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8dc8cdb8824c45" /><Relationship Type="http://schemas.openxmlformats.org/officeDocument/2006/relationships/extended-properties" Target="/docProps/app.xml" Id="R4f61205be7ab4d8e" /><Relationship Type="http://schemas.openxmlformats.org/officeDocument/2006/relationships/officeDocument" Target="/ppt/presentation.xml" Id="Re7d68932c10047b6" /></Relationships>
</file>

<file path=ppt/presentation.xml><?xml version="1.0" encoding="utf-8"?>
<p:presentation xmlns:p="http://schemas.openxmlformats.org/presentationml/2006/main">
  <p:sldMasterIdLst>
    <p:sldMasterId xmlns:r="http://schemas.openxmlformats.org/officeDocument/2006/relationships" id="2147483648" r:id="R0906dd1668574e19"/>
  </p:sldMasterIdLst>
  <p:notesMasterIdLst>
    <p:notesMasterId xmlns:r="http://schemas.openxmlformats.org/officeDocument/2006/relationships" r:id="Rf1ec2f65f0ef4bc5"/>
  </p:notesMasterIdLst>
  <p:sldIdLst>
    <p:sldId xmlns:r="http://schemas.openxmlformats.org/officeDocument/2006/relationships" id="256" r:id="R5b07097433884337"/>
    <p:sldId xmlns:r="http://schemas.openxmlformats.org/officeDocument/2006/relationships" id="257" r:id="Rac3fd8d6a05b4a4c"/>
    <p:sldId xmlns:r="http://schemas.openxmlformats.org/officeDocument/2006/relationships" id="258" r:id="R2484d4ea97fe4881"/>
    <p:sldId xmlns:r="http://schemas.openxmlformats.org/officeDocument/2006/relationships" id="259" r:id="R2a209c0405a0427d"/>
    <p:sldId xmlns:r="http://schemas.openxmlformats.org/officeDocument/2006/relationships" id="260" r:id="Rde99c76edac74fb5"/>
    <p:sldId xmlns:r="http://schemas.openxmlformats.org/officeDocument/2006/relationships" id="261" r:id="Rad98fd6650a64673"/>
    <p:sldId xmlns:r="http://schemas.openxmlformats.org/officeDocument/2006/relationships" id="262" r:id="R093d0f7fb666427b"/>
    <p:sldId xmlns:r="http://schemas.openxmlformats.org/officeDocument/2006/relationships" id="263" r:id="Rf778a6c76d9a4d18"/>
    <p:sldId xmlns:r="http://schemas.openxmlformats.org/officeDocument/2006/relationships" id="264" r:id="Rd1a46b7f82c6406a"/>
    <p:sldId xmlns:r="http://schemas.openxmlformats.org/officeDocument/2006/relationships" id="265" r:id="R968efa026fb34992"/>
    <p:sldId xmlns:r="http://schemas.openxmlformats.org/officeDocument/2006/relationships" id="266" r:id="Rf932ee3fab1442b3"/>
    <p:sldId xmlns:r="http://schemas.openxmlformats.org/officeDocument/2006/relationships" id="267" r:id="R777b714b1fe948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1d54accaaa4bf9" /><Relationship Type="http://schemas.openxmlformats.org/officeDocument/2006/relationships/slideMaster" Target="/ppt/slideMasters/slideMaster1.xml" Id="R0906dd1668574e19" /><Relationship Type="http://schemas.openxmlformats.org/officeDocument/2006/relationships/notesMaster" Target="/ppt/notesMasters/notesMaster1.xml" Id="Rf1ec2f65f0ef4bc5" /><Relationship Type="http://schemas.openxmlformats.org/officeDocument/2006/relationships/presProps" Target="/ppt/presProps.xml" Id="R3570e9d53d2d401c" /><Relationship Type="http://schemas.openxmlformats.org/officeDocument/2006/relationships/tableStyles" Target="/ppt/tableStyles.xml" Id="Rf331c1fe74f44ad5" /><Relationship Type="http://schemas.openxmlformats.org/officeDocument/2006/relationships/slide" Target="/ppt/slides/slide1.xml" Id="R5b07097433884337" /><Relationship Type="http://schemas.openxmlformats.org/officeDocument/2006/relationships/slide" Target="/ppt/slides/slide2.xml" Id="Rac3fd8d6a05b4a4c" /><Relationship Type="http://schemas.openxmlformats.org/officeDocument/2006/relationships/slide" Target="/ppt/slides/slide3.xml" Id="R2484d4ea97fe4881" /><Relationship Type="http://schemas.openxmlformats.org/officeDocument/2006/relationships/slide" Target="/ppt/slides/slide4.xml" Id="R2a209c0405a0427d" /><Relationship Type="http://schemas.openxmlformats.org/officeDocument/2006/relationships/slide" Target="/ppt/slides/slide5.xml" Id="Rde99c76edac74fb5" /><Relationship Type="http://schemas.openxmlformats.org/officeDocument/2006/relationships/slide" Target="/ppt/slides/slide6.xml" Id="Rad98fd6650a64673" /><Relationship Type="http://schemas.openxmlformats.org/officeDocument/2006/relationships/slide" Target="/ppt/slides/slide7.xml" Id="R093d0f7fb666427b" /><Relationship Type="http://schemas.openxmlformats.org/officeDocument/2006/relationships/slide" Target="/ppt/slides/slide8.xml" Id="Rf778a6c76d9a4d18" /><Relationship Type="http://schemas.openxmlformats.org/officeDocument/2006/relationships/slide" Target="/ppt/slides/slide9.xml" Id="Rd1a46b7f82c6406a" /><Relationship Type="http://schemas.openxmlformats.org/officeDocument/2006/relationships/slide" Target="/ppt/slides/slide10.xml" Id="R968efa026fb34992" /><Relationship Type="http://schemas.openxmlformats.org/officeDocument/2006/relationships/slide" Target="/ppt/slides/slide11.xml" Id="Rf932ee3fab1442b3" /><Relationship Type="http://schemas.openxmlformats.org/officeDocument/2006/relationships/slide" Target="/ppt/slides/slide12.xml" Id="R777b714b1fe948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5d6673db9540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db119dbfdb4001" /><Relationship Type="http://schemas.openxmlformats.org/officeDocument/2006/relationships/notesMaster" Target="/ppt/notesMasters/notesMaster1.xml" Id="R643d6788285f49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f2e681565e4f01" /><Relationship Type="http://schemas.openxmlformats.org/officeDocument/2006/relationships/notesMaster" Target="/ppt/notesMasters/notesMaster1.xml" Id="Rc4f91cc37f7542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e2cf17ea054aee" /><Relationship Type="http://schemas.openxmlformats.org/officeDocument/2006/relationships/notesMaster" Target="/ppt/notesMasters/notesMaster1.xml" Id="Rb7925960712f43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53093ec71844c1" /><Relationship Type="http://schemas.openxmlformats.org/officeDocument/2006/relationships/notesMaster" Target="/ppt/notesMasters/notesMaster1.xml" Id="R302fc10ef6bd40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a599677d204bdc" /><Relationship Type="http://schemas.openxmlformats.org/officeDocument/2006/relationships/notesMaster" Target="/ppt/notesMasters/notesMaster1.xml" Id="R060d21d6036a42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b2bc1a721b44e4" /><Relationship Type="http://schemas.openxmlformats.org/officeDocument/2006/relationships/notesMaster" Target="/ppt/notesMasters/notesMaster1.xml" Id="Rd215c4c436b240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1718373f8d4400" /><Relationship Type="http://schemas.openxmlformats.org/officeDocument/2006/relationships/notesMaster" Target="/ppt/notesMasters/notesMaster1.xml" Id="R1925dc36e58f4f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50666d0db64acf" /><Relationship Type="http://schemas.openxmlformats.org/officeDocument/2006/relationships/notesMaster" Target="/ppt/notesMasters/notesMaster1.xml" Id="R5681c0e5ea234c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8353b847b040d6" /><Relationship Type="http://schemas.openxmlformats.org/officeDocument/2006/relationships/notesMaster" Target="/ppt/notesMasters/notesMaster1.xml" Id="Rbde8380e769b4d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4b5d1ac1a040ac" /><Relationship Type="http://schemas.openxmlformats.org/officeDocument/2006/relationships/notesMaster" Target="/ppt/notesMasters/notesMaster1.xml" Id="R6011c7edd1c949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a3084e7b4f466b" /><Relationship Type="http://schemas.openxmlformats.org/officeDocument/2006/relationships/notesMaster" Target="/ppt/notesMasters/notesMaster1.xml" Id="R880005e5e90443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848b73912948dd" /><Relationship Type="http://schemas.openxmlformats.org/officeDocument/2006/relationships/notesMaster" Target="/ppt/notesMasters/notesMaster1.xml" Id="R3e87720be04a4c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2 minutos.</a:t>
            </a:r>
          </a:p>
          <a:p xmlns:a="http://schemas.openxmlformats.org/drawingml/2006/main">
            <a:r>
              <a:t/>
            </a:r>
          </a:p>
          <a:p xmlns:a="http://schemas.openxmlformats.org/drawingml/2006/main">
            <a:r>
              <a:t>Presentar el tema y a los seis integrantes. La pregunta central es si una LSTM predice mejor la siguiente palabra que una RNN simple bajo las mismas condiciones de datos y entrenamiento. Explicar el recorrido: mecanismo de las redes, experimento y resultados, con una demostración al final. El término PLN significa procesamiento del lenguaje natural. RNN significa red neuronal recurrente. LSTM es una clase de red recurrente con una celda de memoria y compuertas. El estudio usa texto en español y predice palabras completas.</a:t>
            </a:r>
          </a:p>
          <a:p xmlns:a="http://schemas.openxmlformats.org/drawingml/2006/main">
            <a:r>
              <a:t>Transición: comenzar con una entrada concreta antes de presentar fórmulas.</a:t>
            </a:r>
          </a:p>
          <a:p xmlns:a="http://schemas.openxmlformats.org/drawingml/2006/main">
            <a:r>
              <a:t/>
            </a:r>
          </a:p>
          <a:p xmlns:a="http://schemas.openxmlformats.org/drawingml/2006/main">
            <a:r>
              <a:t>Fuentes y evidencia:</a:t>
            </a:r>
          </a:p>
          <a:p xmlns:a="http://schemas.openxmlformats.org/drawingml/2006/main">
            <a:r>
              <a:t>Informe, resúmenes e introducción. La imagen de portada es una ilustración abstracta generada para esta presentación, sin datos experimentales.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2 minutos.</a:t>
            </a:r>
          </a:p>
          <a:p xmlns:a="http://schemas.openxmlformats.org/drawingml/2006/main">
            <a:r>
              <a:t/>
            </a:r>
          </a:p>
          <a:p xmlns:a="http://schemas.openxmlformats.org/drawingml/2006/main">
            <a:r>
              <a:t>Leer la entrada y señalar que todavía falta una palabra. El contexto es lo escrito antes de la posición que se predice. El programa devuelve cinco sugerencias ordenadas por una probabilidad aprendida. Mostrar de, del y vasco como parte de una salida guardada, no como únicas continuaciones gramaticales. Probabilidad del modelo no significa certeza sobre la intención del usuario.</a:t>
            </a:r>
          </a:p>
          <a:p xmlns:a="http://schemas.openxmlformats.org/drawingml/2006/main">
            <a:r>
              <a:t>Explicar utilidad: editores y formularios pueden ofrecer continuaciones que la persona decide aceptar. Los modelos de lenguaje también ayudan a valorar hipótesis de reconocimiento de voz, aplicación estudiada por Mikolov. Nuestro programa no reconoce voz.</a:t>
            </a:r>
          </a:p>
          <a:p xmlns:a="http://schemas.openxmlformats.org/drawingml/2006/main">
            <a:r>
              <a:t>Objetivo: comprender la recurrencia y comparar RNN/LSTM con una referencia sencilla. La aplicación completa palabras siguientes, no letras parciales ni preguntas.</a:t>
            </a:r>
          </a:p>
          <a:p xmlns:a="http://schemas.openxmlformats.org/drawingml/2006/main">
            <a:r>
              <a:t/>
            </a:r>
          </a:p>
          <a:p xmlns:a="http://schemas.openxmlformats.org/drawingml/2006/main">
            <a:r>
              <a:t>Fuentes y evidencia:</a:t>
            </a:r>
          </a:p>
          <a:p xmlns:a="http://schemas.openxmlformats.org/drawingml/2006/main">
            <a:r>
              <a:t>Bengio et al. 2003: https://www.jmlr.org/papers/volume3/bengio03a/bengio03a.pdf ; Mikolov et al. 2010: https://www.isca-archive.org/interspeech_2010/mikolov10_interspeech.html ; resultados/ejemplos_demo.json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 minutos.</a:t>
            </a:r>
          </a:p>
          <a:p xmlns:a="http://schemas.openxmlformats.org/drawingml/2006/main">
            <a:r>
              <a:t/>
            </a:r>
          </a:p>
          <a:p xmlns:a="http://schemas.openxmlformats.org/drawingml/2006/main">
            <a:r>
              <a:t>Recorrer las filas en orden. La red lee la representación numérica de una palabra, la combina con el estado anterior y obtiene un estado nuevo. En este proyecto cada estado tiene 64 valores. El estado puede contener información de varias posiciones, pero tiene capacidad limitada. Los mismos pesos se usan en todos los pasos.</a:t>
            </a:r>
          </a:p>
          <a:p xmlns:a="http://schemas.openxmlformats.org/drawingml/2006/main">
            <a:r>
              <a:t>Explicar la expresión en palabras antes de símbolos: x es la representación de entrada, h el estado, W los pesos y b el sesgo. tanh transforma cada componente a un valor entre menos uno y uno. Las operaciones se hacen con vectores y matrices. El estado no es una probabilidad. La capa de salida transforma el último estado válido en puntuaciones para las palabras.</a:t>
            </a:r>
          </a:p>
          <a:p xmlns:a="http://schemas.openxmlformats.org/drawingml/2006/main">
            <a:r>
              <a:t>Al entrenar, la señal de cambio puede hacerse pequeña o grande al recorrer posiciones. Eso dificulta conservar relaciones lejanas. El recorte de gradientes limita valores grandes, pero no recupera información ya perdida. Aquí el estado empieza de nuevo en cada ventana.</a:t>
            </a:r>
          </a:p>
          <a:p xmlns:a="http://schemas.openxmlformats.org/drawingml/2006/main">
            <a:r>
              <a:t/>
            </a:r>
          </a:p>
          <a:p xmlns:a="http://schemas.openxmlformats.org/drawingml/2006/main">
            <a:r>
              <a:t>Fuentes y evidencia:</a:t>
            </a:r>
          </a:p>
          <a:p xmlns:a="http://schemas.openxmlformats.org/drawingml/2006/main">
            <a:r>
              <a:t>Informe, sección 3. Bengio et al. 1994: https://www.cs.cmu.edu/~bhiksha/courses/deeplearning/Fall.2016/pdfs/Bengio_94.pdf ; Pascanu et al. 2013: https://proceedings.mlr.press/v28/pascanu13.pdf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4 minutos.</a:t>
            </a:r>
          </a:p>
          <a:p xmlns:a="http://schemas.openxmlformats.org/drawingml/2006/main">
            <a:r>
              <a:t/>
            </a:r>
          </a:p>
          <a:p xmlns:a="http://schemas.openxmlformats.org/drawingml/2006/main">
            <a:r>
              <a:t>Seguir la línea superior: la celda anterior se multiplica por la compuerta de olvido. El contenido candidato se multiplica por la compuerta de entrada. La suma forma la celda nueva. Después tanh transforma esa celda y la compuerta de salida regula el estado oculto. La ilustración simplifica la actualización y omite el cálculo de las compuertas.</a:t>
            </a:r>
          </a:p>
          <a:p xmlns:a="http://schemas.openxmlformats.org/drawingml/2006/main">
            <a:r>
              <a:t>Cada compuerta usa entrada y estado anterior, pesos aprendidos y sigmoide, con valores entre cero y uno. No son interruptores obligatoriamente binarios. El candidato usa tanh y puede ser positivo o negativo. Multiplicar ocurre componente por componente.</a:t>
            </a:r>
          </a:p>
          <a:p xmlns:a="http://schemas.openxmlformats.org/drawingml/2006/main">
            <a:r>
              <a:t>Ejemplo didáctico de una componente: celda anterior 0,8, olvido 0,75, entrada 0,2 y candidato 0,5. Queda 0,75 por 0,8 más 0,2 por 0,5, igual a 0,7. Con salida 0,6, el estado es 0,6 por tanh(0,7), aproximadamente 0,363. Estas cantidades enseñan la operación y no proceden del entrenamiento.</a:t>
            </a:r>
          </a:p>
          <a:p xmlns:a="http://schemas.openxmlformats.org/drawingml/2006/main">
            <a:r>
              <a:t>La celda y el estado son diferentes. La memoria no garantiza conservar todo. El programa reinicia ambos por consulta y la ventana limita qué palabras puede recibir. La implementación moderna no reproduce literalmente todas las variantes históricas.</a:t>
            </a:r>
          </a:p>
          <a:p xmlns:a="http://schemas.openxmlformats.org/drawingml/2006/main">
            <a:r>
              <a:t/>
            </a:r>
          </a:p>
          <a:p xmlns:a="http://schemas.openxmlformats.org/drawingml/2006/main">
            <a:r>
              <a:t>Fuentes y evidencia:</a:t>
            </a:r>
          </a:p>
          <a:p xmlns:a="http://schemas.openxmlformats.org/drawingml/2006/main">
            <a:r>
              <a:t>Hochreiter y Schmidhuber 1997: https://www.bioinf.jku.at/publications/older/2604.pdf ; Sherstinsky: https://arxiv.org/pdf/1808.03314 ; Greff et al.: https://arxiv.org/pdf/1503.04069 . Ilustración explicativa generada para esta presentación, basada en las operaciones descritas.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 minutos.</a:t>
            </a:r>
          </a:p>
          <a:p xmlns:a="http://schemas.openxmlformats.org/drawingml/2006/main">
            <a:r>
              <a:t/>
            </a:r>
          </a:p>
          <a:p xmlns:a="http://schemas.openxmlformats.org/drawingml/2006/main">
            <a:r>
              <a:t>AnCora aporta textos periodísticos. Se usa la distribución UD Spanish-AnCora r2.17, bajo CC BY 4.0 según LICENSE.txt. Se unen los archivos originales y se crea una partición propia por identificador documental, no el benchmark oficial. La misma regla fija asigna documentos completos a entrenamiento, validación o prueba.</a:t>
            </a:r>
          </a:p>
          <a:p xmlns:a="http://schemas.openxmlformats.org/drawingml/2006/main">
            <a:r>
              <a:t>El programa conserva el texto original de la oración, convierte a minúsculas, conserva tildes, normaliza números y omite puntuación. Mantiene palabras como de y el. Elimina 62 oraciones exactamente repetidas después de normalizar.</a:t>
            </a:r>
          </a:p>
          <a:p xmlns:a="http://schemas.openxmlformats.org/drawingml/2006/main">
            <a:r>
              <a:t>Distinguir palabras disponibles y objetivos usados: entrenamiento tiene 372317 posiciones, pero solo usa 100000 seleccionadas. Validación usa 52695 y prueba 56796. El vocabulario contiene 3000 entradas: 2997 frecuentes de entrenamiento y tres señales PAD, UNK, BOS. UNK agrupa palabras fuera de vocabulario. Nunca se construye el vocabulario mirando prueba.</a:t>
            </a:r>
          </a:p>
          <a:p xmlns:a="http://schemas.openxmlformats.org/drawingml/2006/main">
            <a:r>
              <a:t/>
            </a:r>
          </a:p>
          <a:p xmlns:a="http://schemas.openxmlformats.org/drawingml/2006/main">
            <a:r>
              <a:t>Fuentes y evidencia:</a:t>
            </a:r>
          </a:p>
          <a:p xmlns:a="http://schemas.openxmlformats.org/drawingml/2006/main">
            <a:r>
              <a:t>datos/procesados/resumen.json y documentos.json. Taulé et al. 2008: https://aclanthology.org/L08-1222.pdf ; Nivre et al. 2020: https://aclanthology.org/2020.lrec-1.497.pdf ; corpus y licencia: https://github.com/UniversalDependencies/UD_Spanish-AnCora/tree/r2.17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 minutos.</a:t>
            </a:r>
          </a:p>
          <a:p xmlns:a="http://schemas.openxmlformats.org/drawingml/2006/main">
            <a:r>
              <a:t/>
            </a:r>
          </a:p>
          <a:p xmlns:a="http://schemas.openxmlformats.org/drawingml/2006/main">
            <a:r>
              <a:t>Explicar qué hace cada biblioteca y conectar con código/pln.py. PyTorch define embeddings, RNN/LSTM, salida y entrenamiento. NumPy organiza las matrices y el muestreo. Matplotlib dibuja los resultados ya medidos. Ninguna gráfica entrena el modelo.</a:t>
            </a:r>
          </a:p>
          <a:p xmlns:a="http://schemas.openxmlformats.org/drawingml/2006/main">
            <a:r>
              <a:t>Para el contexto real el presidente del gobierno, tokens produce cuatro palabras. Se antepone BOS y se obtienen identificadores [2,5,46,11,42]. Son índices, no puntuaciones. Embedding asigna 48 valores a cada uno. La red recurrente produce estados de 64 valores. forward toma el último estado real mediante lengths menos uno, porque Python cuenta desde cero. Así el relleno posterior no altera la salida elegida. Una capa lineal produce 3000 puntuaciones y softmax las convierte en probabilidades. PAD y BOS quedan restringidos.</a:t>
            </a:r>
          </a:p>
          <a:p xmlns:a="http://schemas.openxmlformats.org/drawingml/2006/main">
            <a:r>
              <a:t>Durante entrenamiento se calcula pérdida, se obtienen gradientes y Adam actualiza los pesos. Durante la demo solo se cargan pesos y se calcula una salida, sin aprender de la consulta. Mostrar dónde están tokens, LanguageModel.forward y predict.</a:t>
            </a:r>
          </a:p>
          <a:p xmlns:a="http://schemas.openxmlformats.org/drawingml/2006/main">
            <a:r>
              <a:t/>
            </a:r>
          </a:p>
          <a:p xmlns:a="http://schemas.openxmlformats.org/drawingml/2006/main">
            <a:r>
              <a:t>Fuentes y evidencia:</a:t>
            </a:r>
          </a:p>
          <a:p xmlns:a="http://schemas.openxmlformats.org/drawingml/2006/main">
            <a:r>
              <a:t>codigo/pln.py: tokens, LanguageModel.forward, train y predict. Documentación técnica: https://docs.pytorch.org/docs/2.14/generated/torch.nn.LSTM.html ; informe, sección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 minutos.</a:t>
            </a:r>
          </a:p>
          <a:p xmlns:a="http://schemas.openxmlformats.org/drawingml/2006/main">
            <a:r>
              <a:t/>
            </a:r>
          </a:p>
          <a:p xmlns:a="http://schemas.openxmlformats.org/drawingml/2006/main">
            <a:r>
              <a:t>La comparación principal usa dos arquitecturas, tres semillas por arquitectura y contexto máximo doce. Las semillas 17, 29 y 43 cambian inicialización y orden de entrenamiento, no el conjunto de prueba. Son seis ejecuciones principales. Se añaden cuatro de sensibilidad, con contextos cuatro y veinticuatro y semilla 17, para diez finales. El piloto se excluye.</a:t>
            </a:r>
          </a:p>
          <a:p xmlns:a="http://schemas.openxmlformats.org/drawingml/2006/main">
            <a:r>
              <a:t>Una época recorre los objetivos elegidos. El lote contiene hasta 512 ejemplos. Adam usa tasa 0,003, dropout 0,15 después de recurrencia y recorte de gradientes a norma 1. La representación y el estado tienen tamaños 48 y 64. RNN tiene 346296 parámetros y LSTM 368184. No se igualó el número de parámetros ni el tiempo.</a:t>
            </a:r>
          </a:p>
          <a:p xmlns:a="http://schemas.openxmlformats.org/drawingml/2006/main">
            <a:r>
              <a:t>El bigrama estima la siguiente palabra con la palabra inmediatamente anterior y los mismos objetivos. El suavizado asigna probabilidad a continuaciones no observadas. Alfa 1, 10 y 100 se comparan en validación y se elige 100 por menor pérdida. Se guarda el checkpoint con menor NLL de validación. Solo después se evalúa prueba. El archivo final conserva esa evaluación.</a:t>
            </a:r>
          </a:p>
          <a:p xmlns:a="http://schemas.openxmlformats.org/drawingml/2006/main">
            <a:r>
              <a:t/>
            </a:r>
          </a:p>
          <a:p xmlns:a="http://schemas.openxmlformats.org/drawingml/2006/main">
            <a:r>
              <a:t>Fuentes y evidencia:</a:t>
            </a:r>
          </a:p>
          <a:p xmlns:a="http://schemas.openxmlformats.org/drawingml/2006/main">
            <a:r>
              <a:t>investigacion/PROTOCOLO_EXPERIMENTAL.md, resultados/bigrama_validacion.json, resultados/*_entrenamiento.json, codigo/experimentos.py y codigo/pln.py. Srivastava et al. 2014: https://www.jmlr.org/papers/volume15/srivastava14a/srivastava14a.pdf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2 minutos.</a:t>
            </a:r>
          </a:p>
          <a:p xmlns:a="http://schemas.openxmlformats.org/drawingml/2006/main">
            <a:r>
              <a:t/>
            </a:r>
          </a:p>
          <a:p xmlns:a="http://schemas.openxmlformats.org/drawingml/2006/main">
            <a:r>
              <a:t>Explicar dos preguntas distintas: cuánto valor de probabilidad se asigna a la respuesta real y dónde queda esa respuesta en el orden de candidatas. NLL es el promedio del logaritmo negativo de su probabilidad. Menor es mejor. Perplejidad es exp(NLL), también menor es mejor bajo los mismos datos y vocabulario. No es porcentaje de error.</a:t>
            </a:r>
          </a:p>
          <a:p xmlns:a="http://schemas.openxmlformats.org/drawingml/2006/main">
            <a:r>
              <a:t>Top-1 verifica el primer lugar y top-5 los primeros cinco. Ejemplo didáctico: si la respuesta es anunció y ocupa el cuarto puesto, top-1 falla y top-5 acierta.</a:t>
            </a:r>
          </a:p>
          <a:p xmlns:a="http://schemas.openxmlformats.org/drawingml/2006/main">
            <a:r>
              <a:t>En nuestra evaluación UNK nunca cuenta como palabra acertada y todas las posiciones permanecen en el denominador. NLL y perplejidad sí usan UNK como objetivo interno. Además, UNK puede ocupar un puesto entre los cinco antes del filtrado. La demo lo oculta, por eso las cinco palabras visibles no son exactamente la métrica top-5. No interpretar una probabilidad como confianza calibrada en la intención del usuario.</a:t>
            </a:r>
          </a:p>
          <a:p xmlns:a="http://schemas.openxmlformats.org/drawingml/2006/main">
            <a:r>
              <a:t/>
            </a:r>
          </a:p>
          <a:p xmlns:a="http://schemas.openxmlformats.org/drawingml/2006/main">
            <a:r>
              <a:t>Fuentes y evidencia:</a:t>
            </a:r>
          </a:p>
          <a:p xmlns:a="http://schemas.openxmlformats.org/drawingml/2006/main">
            <a:r>
              <a:t>codigo/pln.py: metrics_from_logits, evaluate_model y predict. Informe, secciones 5.13 a 5.16.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 minutos.</a:t>
            </a:r>
          </a:p>
          <a:p xmlns:a="http://schemas.openxmlformats.org/drawingml/2006/main">
            <a:r>
              <a:t/>
            </a:r>
          </a:p>
          <a:p xmlns:a="http://schemas.openxmlformats.org/drawingml/2006/main">
            <a:r>
              <a:t>Leer ambos gráficos: a la izquierda una barra más baja es mejor, a la derecha una más alta es mejor. Todos usan 56796 objetivos. RNN y LSTM son medias de tres semillas, contexto doce. Bigrama es una configuración seleccionada.</a:t>
            </a:r>
          </a:p>
          <a:p xmlns:a="http://schemas.openxmlformats.org/drawingml/2006/main">
            <a:r>
              <a:t>Perplejidad: bigrama 85,93, RNN 75,60 y LSTM 78,15. Desviación muestral: RNN 0,36 y LSTM 1,05. Top-5: 25,62 %, 26,58 % y 26,14 %. Desviación en puntos porcentuales: 0,08 y 0,09. Estos gráficos muestran medias, sin barras de dispersión, para facilitar lectura. Las cifras completas están en la tabla del informe. Top-1 fue 2,82 %, 7,23 % y 6,72 %.</a:t>
            </a:r>
          </a:p>
          <a:p xmlns:a="http://schemas.openxmlformats.org/drawingml/2006/main">
            <a:r>
              <a:t>La ganancia top-5 respecto al bigrama es 0,96 puntos porcentuales para RNN y 0,52 para LSTM. La reducción relativa de perplejidad fue aproximadamente 12,02 % y 9,05 %, pero no es acierto adicional. Tres semillas y una partición no prueban superioridad general ni significación estadística.</a:t>
            </a:r>
          </a:p>
          <a:p xmlns:a="http://schemas.openxmlformats.org/drawingml/2006/main">
            <a:r>
              <a:t/>
            </a:r>
          </a:p>
          <a:p xmlns:a="http://schemas.openxmlformats.org/drawingml/2006/main">
            <a:r>
              <a:t>Fuentes y evidencia:</a:t>
            </a:r>
          </a:p>
          <a:p xmlns:a="http://schemas.openxmlformats.org/drawingml/2006/main">
            <a:r>
              <a:t>resultados/evaluacion_test.json y resumen_comparacion.json. Informe, cuadro de comparación principal.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3 minutos.</a:t>
            </a:r>
          </a:p>
          <a:p xmlns:a="http://schemas.openxmlformats.org/drawingml/2006/main">
            <a:r>
              <a:t/>
            </a:r>
          </a:p>
          <a:p xmlns:a="http://schemas.openxmlformats.org/drawingml/2006/main">
            <a:r>
              <a:t>La curva corresponde únicamente a LSTM, contexto doce, semilla 29, la seleccionada para la demo. El eje horizontal indica época y el vertical NLL de validación. Los cinco valores son 4,735, 4,561, 4,456, 4,384 y 4,339. Cada punto resume toda la validación, no una palabra. La quinta época es la de menor pérdida registrada y queda guardada.</a:t>
            </a:r>
          </a:p>
          <a:p xmlns:a="http://schemas.openxmlformats.org/drawingml/2006/main">
            <a:r>
              <a:t>La tendencia indica mejora en estas cinco épocas, no que el modelo haya alcanzado su máximo posible ni que entrenar sin límite mejoraría. No se eligió la época usando prueba. El informe incluye también las otras cinco curvas.</a:t>
            </a:r>
          </a:p>
          <a:p xmlns:a="http://schemas.openxmlformats.org/drawingml/2006/main">
            <a:r>
              <a:t>La limitación principal es cobertura: 12033 de 56796 objetivos, el 21,19 %, están fuera del vocabulario. UNK agrupa esos casos. Riobamba, ESPOCH y Chimborazo resultan desconocidas en el modelo conservado. No se puede concluir capacidad de escritura sobre cualquier tema a partir de prensa.</a:t>
            </a:r>
          </a:p>
          <a:p xmlns:a="http://schemas.openxmlformats.org/drawingml/2006/main">
            <a:r>
              <a:t>Los contextos cuatro y veinticuatro no producen una mejora continua para semilla 17. Esa comparación exploratoria no mide causalmente memoria a larga distancia. No se evaluó ahorro de tiempo de usuarios ni uso productivo.</a:t>
            </a:r>
          </a:p>
          <a:p xmlns:a="http://schemas.openxmlformats.org/drawingml/2006/main">
            <a:r>
              <a:t/>
            </a:r>
          </a:p>
          <a:p xmlns:a="http://schemas.openxmlformats.org/drawingml/2006/main">
            <a:r>
              <a:t>Fuentes y evidencia:</a:t>
            </a:r>
          </a:p>
          <a:p xmlns:a="http://schemas.openxmlformats.org/drawingml/2006/main">
            <a:r>
              <a:t>resultados/lstm_c12_s29_historial.json, datos/procesados/resumen.json y resultados/ejemplos_demo.json. Informe, resultados y limitaciones.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5 minutos.</a:t>
            </a:r>
          </a:p>
          <a:p xmlns:a="http://schemas.openxmlformats.org/drawingml/2006/main">
            <a:r>
              <a:t/>
            </a:r>
          </a:p>
          <a:p xmlns:a="http://schemas.openxmlformats.org/drawingml/2006/main">
            <a:r>
              <a:t>Antes de exponer, abrir PowerShell en la carpeta del proyecto y comprobar el entorno. Ejecutar .\.venv\Scripts\python.exe codigo/demo.py. En el paquete compartido el proyecto está dentro de 04_PROYECTO_PYTHON.</a:t>
            </a:r>
          </a:p>
          <a:p xmlns:a="http://schemas.openxmlformats.org/drawingml/2006/main">
            <a:r>
              <a:t>Minuto 1: introducir el presidente del gobierno. Identificar modelo lstm_c12_s29.pt, tokens y sugerencias. Minuto 2: explicar que se eligió esa LSTM por validación para mostrar el mecanismo LSTM, aunque RNN obtuvo mejor media. La tabla de la diapositiva es una salida guardada, no sustituye la ejecución. Minuto 3: probar Riobamba ESPOCH Chimborazo y leer desconocidas. El modelo aún produce propuestas porque usa UNK, pero eso no significa que conozca los lugares. Minuto 4: mostrar LanguageModel.forward y la selección de última posición válida. Si el tiempo permite, ejecutar las ocho pruebas. Minuto 5: cerrar con /salir y explicar probabilidades.</a:t>
            </a:r>
          </a:p>
          <a:p xmlns:a="http://schemas.openxmlformats.org/drawingml/2006/main">
            <a:r>
              <a:t>Las cinco probabilidades suman 28,06 %, porque el resto corresponde a otras entradas y a UNK. No se renormalizan después de ocultar símbolos. Cambiar la entrada no entrena. La consulta no tiene una respuesta única con la que calcular acierto automáticamente.</a:t>
            </a:r>
          </a:p>
          <a:p xmlns:a="http://schemas.openxmlformats.org/drawingml/2006/main">
            <a:r>
              <a:t>Contingencia: si falla la ejecución, mostrar resultados/ejemplos_demo.json y declarar que son salidas guardadas. No presentarlas como una demo ejecutada. La demo no necesita Internet después de instalar dependencias y disponer del modelo.</a:t>
            </a:r>
          </a:p>
          <a:p xmlns:a="http://schemas.openxmlformats.org/drawingml/2006/main">
            <a:r>
              <a:t/>
            </a:r>
          </a:p>
          <a:p xmlns:a="http://schemas.openxmlformats.org/drawingml/2006/main">
            <a:r>
              <a:t>Fuentes y evidencia:</a:t>
            </a:r>
          </a:p>
          <a:p xmlns:a="http://schemas.openxmlformats.org/drawingml/2006/main">
            <a:r>
              <a:t>codigo/demo.py, codigo/pln.py: predict y load_model. resultados/ejemplos_demo.json.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2 minutos.</a:t>
            </a:r>
          </a:p>
          <a:p xmlns:a="http://schemas.openxmlformats.org/drawingml/2006/main">
            <a:r>
              <a:t/>
            </a:r>
          </a:p>
          <a:p xmlns:a="http://schemas.openxmlformats.org/drawingml/2006/main">
            <a:r>
              <a:t>Responder la pregunta inicial: bajo este protocolo, LSTM no superó a RNN. RNN obtuvo menor perplejidad y mayor acierto medio. Esto no invalida el mecanismo de memoria de LSTM ni demuestra una ley general.</a:t>
            </a:r>
          </a:p>
          <a:p xmlns:a="http://schemas.openxmlformats.org/drawingml/2006/main">
            <a:r>
              <a:t>Recapitular mecanismo: RNN actualiza un estado y LSTM añade una celda y compuertas aprendidas. Su resultado también depende del vocabulario, de los datos y del entrenamiento. La mejora top-5 fue pequeña y la cobertura desconocida fue alta. Por eso se presenta como prototipo educativo.</a:t>
            </a:r>
          </a:p>
          <a:p xmlns:a="http://schemas.openxmlformats.org/drawingml/2006/main">
            <a:r>
              <a:t>Posibles extensiones: vocabulario de mayor cobertura, otro presupuesto de entrenamiento y más semillas en la comparación de contextos. Son propuestas y no resultados ya obtenidos.</a:t>
            </a:r>
          </a:p>
          <a:p xmlns:a="http://schemas.openxmlformats.org/drawingml/2006/main">
            <a:r>
              <a:t>Indicar dónde contrastar: el informe incluye doce referencias y la guía localiza los pasajes abiertos. Los resultados experimentales están en JSON, no en los artículos. No dar una URL de repositorio o presentación que todavía no existe. Abrir el turno de preguntas. Todos deben poder explicar cualquier bloque.</a:t>
            </a:r>
          </a:p>
          <a:p xmlns:a="http://schemas.openxmlformats.org/drawingml/2006/main">
            <a:r>
              <a:t/>
            </a:r>
          </a:p>
          <a:p xmlns:a="http://schemas.openxmlformats.org/drawingml/2006/main">
            <a:r>
              <a:t>Fuentes y evidencia:</a:t>
            </a:r>
          </a:p>
          <a:p xmlns:a="http://schemas.openxmlformats.org/drawingml/2006/main">
            <a:r>
              <a:t>Informe, conclusiones. Catálogo completo: investigacion/FUENTES_ABIERTAS.md. Fuentes principales: Bengio 1994 y 2003; Hochreiter y Schmidhuber 1997; Mikolov 2010; Sundermeyer 2012; Pascanu 2013; Srivastava 2014; Greff 2017; Sherstinsky 2020; Doval et al. 2016; Taulé et al. 2008; Nivre et al. 2020. Los enlaces abiertos y pasajes están en la guía y el catálogo compartidos.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4fa82e51b547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135d0451a34383" /><Relationship Type="http://schemas.openxmlformats.org/officeDocument/2006/relationships/slideLayout" Target="/ppt/slideLayouts/slideLayout1.xml" Id="R27717a2a2d8445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717a2a2d8445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4af4e3315f4968" /><Relationship Type="http://schemas.openxmlformats.org/officeDocument/2006/relationships/image" Target="/ppt/media/image.png" Id="Rc5966f35a9be4e7c" /><Relationship Type="http://schemas.openxmlformats.org/officeDocument/2006/relationships/notesSlide" Target="/ppt/notesSlides/notesSlide1.xml" Id="Rc0183dd3ff684d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bc15a25e6248e4" /><Relationship Type="http://schemas.openxmlformats.org/officeDocument/2006/relationships/notesSlide" Target="/ppt/notesSlides/notesSlide2.xml" Id="R349fc4ea15e843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db878517a340be" /><Relationship Type="http://schemas.openxmlformats.org/officeDocument/2006/relationships/notesSlide" Target="/ppt/notesSlides/notesSlide3.xml" Id="R683df2eca6c149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2851611a734646" /><Relationship Type="http://schemas.openxmlformats.org/officeDocument/2006/relationships/image" Target="/ppt/media/image2.png" Id="R432434713e7e4663" /><Relationship Type="http://schemas.openxmlformats.org/officeDocument/2006/relationships/notesSlide" Target="/ppt/notesSlides/notesSlide4.xml" Id="R01437a73a7e94a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946046c91f4c41" /><Relationship Type="http://schemas.openxmlformats.org/officeDocument/2006/relationships/notesSlide" Target="/ppt/notesSlides/notesSlide5.xml" Id="R0d111c073f5649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455900042345a5" /><Relationship Type="http://schemas.openxmlformats.org/officeDocument/2006/relationships/notesSlide" Target="/ppt/notesSlides/notesSlide6.xml" Id="Rf68f184b395f46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8c505f5ad44028" /><Relationship Type="http://schemas.openxmlformats.org/officeDocument/2006/relationships/notesSlide" Target="/ppt/notesSlides/notesSlide7.xml" Id="Rc0c948e355884d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730d7bb8324a1d" /><Relationship Type="http://schemas.openxmlformats.org/officeDocument/2006/relationships/notesSlide" Target="/ppt/notesSlides/notesSlide8.xml" Id="Rd6a53b8513b442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3649f03057452d" /><Relationship Type="http://schemas.openxmlformats.org/officeDocument/2006/relationships/chart" Target="/ppt/slides/charts/chart1.xml" Id="R0124fefad6054a80" /><Relationship Type="http://schemas.openxmlformats.org/officeDocument/2006/relationships/chart" Target="/ppt/slides/charts/chart2.xml" Id="R4f761aa7dcd64644" /><Relationship Type="http://schemas.openxmlformats.org/officeDocument/2006/relationships/notesSlide" Target="/ppt/notesSlides/notesSlide9.xml" Id="Rc0b77750f14d47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39f3e8b6e247a9" /><Relationship Type="http://schemas.openxmlformats.org/officeDocument/2006/relationships/chart" Target="/ppt/slides/charts/chart3.xml" Id="Rabef8c3fa5a843fc" /><Relationship Type="http://schemas.openxmlformats.org/officeDocument/2006/relationships/notesSlide" Target="/ppt/notesSlides/notesSlide10.xml" Id="R78c4baf37bd540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d82aca24274590" /><Relationship Type="http://schemas.openxmlformats.org/officeDocument/2006/relationships/notesSlide" Target="/ppt/notesSlides/notesSlide11.xml" Id="Rda5c77b8eefc46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c1be6f46704264" /><Relationship Type="http://schemas.openxmlformats.org/officeDocument/2006/relationships/notesSlide" Target="/ppt/notesSlides/notesSlide12.xml" Id="Rc5d3e18b8a484a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Bigrama</c:v>
          </c:tx>
          <c:spPr>
            <a:solidFill xmlns:a="http://schemas.openxmlformats.org/drawingml/2006/main">
              <a:srgbClr val="52616B"/>
            </a:solidFill>
          </c:spPr>
          <c:cat>
            <c:strRef>
              <c:f>'Chart Data'!$A$2:$A$2</c:f>
              <c:strCache>
                <c:ptCount val="1"/>
                <c:pt idx="0">
                  <c:v>Prueba</c:v>
                </c:pt>
              </c:strCache>
            </c:strRef>
          </c:cat>
          <c:val>
            <c:numRef>
              <c:f>'Chart Data'!$B$2:$B$2</c:f>
              <c:numCache>
                <c:formatCode>0.00</c:formatCode>
                <c:ptCount val="1"/>
                <c:pt idx="0">
                  <c:v>85.93</c:v>
                </c:pt>
              </c:numCache>
            </c:numRef>
          </c:val>
        </c:ser>
        <c:ser>
          <c:idx val="1"/>
          <c:order val="1"/>
          <c:tx>
            <c:v>RNN</c:v>
          </c:tx>
          <c:spPr>
            <a:solidFill xmlns:a="http://schemas.openxmlformats.org/drawingml/2006/main">
              <a:srgbClr val="007D82"/>
            </a:solidFill>
          </c:spPr>
          <c:cat>
            <c:strRef>
              <c:f>'Chart Data'!$C$2:$C$2</c:f>
              <c:strCache>
                <c:ptCount val="1"/>
                <c:pt idx="0">
                  <c:v>Prueba</c:v>
                </c:pt>
              </c:strCache>
            </c:strRef>
          </c:cat>
          <c:val>
            <c:numRef>
              <c:f>'Chart Data'!$D$2:$D$2</c:f>
              <c:numCache>
                <c:formatCode>0.00</c:formatCode>
                <c:ptCount val="1"/>
                <c:pt idx="0">
                  <c:v>75.6</c:v>
                </c:pt>
              </c:numCache>
            </c:numRef>
          </c:val>
        </c:ser>
        <c:ser>
          <c:idx val="2"/>
          <c:order val="2"/>
          <c:tx>
            <c:v>LSTM</c:v>
          </c:tx>
          <c:spPr>
            <a:solidFill xmlns:a="http://schemas.openxmlformats.org/drawingml/2006/main">
              <a:srgbClr val="B97923"/>
            </a:solidFill>
          </c:spPr>
          <c:cat>
            <c:strRef>
              <c:f>'Chart Data'!$E$2:$E$2</c:f>
              <c:strCache>
                <c:ptCount val="1"/>
                <c:pt idx="0">
                  <c:v>Prueba</c:v>
                </c:pt>
              </c:strCache>
            </c:strRef>
          </c:cat>
          <c:val>
            <c:numRef>
              <c:f>'Chart Data'!$F$2:$F$2</c:f>
              <c:numCache>
                <c:formatCode>0.00</c:formatCode>
                <c:ptCount val="1"/>
                <c:pt idx="0">
                  <c:v>78.15</c:v>
                </c:pt>
              </c:numCache>
            </c:numRef>
          </c:val>
        </c:ser>
        <c:dLbls>
          <c:txPr>
            <a:bodyPr xmlns:a="http://schemas.openxmlformats.org/drawingml/2006/main" anchorCtr="1"/>
            <a:lstStyle xmlns:a="http://schemas.openxmlformats.org/drawingml/2006/main"/>
            <a:p xmlns:a="http://schemas.openxmlformats.org/drawingml/2006/main">
              <a:pPr>
                <a:defRPr sz="1725" b="1">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0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0"/>
      </c:valAx>
      <c:spPr>
        <a:solidFill xmlns:a="http://schemas.openxmlformats.org/drawingml/2006/main">
          <a:srgbClr val="F5F3EE"/>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5F3EE"/>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Bigrama</c:v>
          </c:tx>
          <c:spPr>
            <a:solidFill xmlns:a="http://schemas.openxmlformats.org/drawingml/2006/main">
              <a:srgbClr val="52616B"/>
            </a:solidFill>
          </c:spPr>
          <c:cat>
            <c:strRef>
              <c:f>'Chart Data'!$A$2:$A$2</c:f>
              <c:strCache>
                <c:ptCount val="1"/>
                <c:pt idx="0">
                  <c:v>Prueba</c:v>
                </c:pt>
              </c:strCache>
            </c:strRef>
          </c:cat>
          <c:val>
            <c:numRef>
              <c:f>'Chart Data'!$B$2:$B$2</c:f>
              <c:numCache>
                <c:formatCode>0.00</c:formatCode>
                <c:ptCount val="1"/>
                <c:pt idx="0">
                  <c:v>25.62</c:v>
                </c:pt>
              </c:numCache>
            </c:numRef>
          </c:val>
        </c:ser>
        <c:ser>
          <c:idx val="1"/>
          <c:order val="1"/>
          <c:tx>
            <c:v>RNN</c:v>
          </c:tx>
          <c:spPr>
            <a:solidFill xmlns:a="http://schemas.openxmlformats.org/drawingml/2006/main">
              <a:srgbClr val="007D82"/>
            </a:solidFill>
          </c:spPr>
          <c:cat>
            <c:strRef>
              <c:f>'Chart Data'!$C$2:$C$2</c:f>
              <c:strCache>
                <c:ptCount val="1"/>
                <c:pt idx="0">
                  <c:v>Prueba</c:v>
                </c:pt>
              </c:strCache>
            </c:strRef>
          </c:cat>
          <c:val>
            <c:numRef>
              <c:f>'Chart Data'!$D$2:$D$2</c:f>
              <c:numCache>
                <c:formatCode>0.00</c:formatCode>
                <c:ptCount val="1"/>
                <c:pt idx="0">
                  <c:v>26.58</c:v>
                </c:pt>
              </c:numCache>
            </c:numRef>
          </c:val>
        </c:ser>
        <c:ser>
          <c:idx val="2"/>
          <c:order val="2"/>
          <c:tx>
            <c:v>LSTM</c:v>
          </c:tx>
          <c:spPr>
            <a:solidFill xmlns:a="http://schemas.openxmlformats.org/drawingml/2006/main">
              <a:srgbClr val="B97923"/>
            </a:solidFill>
          </c:spPr>
          <c:cat>
            <c:strRef>
              <c:f>'Chart Data'!$E$2:$E$2</c:f>
              <c:strCache>
                <c:ptCount val="1"/>
                <c:pt idx="0">
                  <c:v>Prueba</c:v>
                </c:pt>
              </c:strCache>
            </c:strRef>
          </c:cat>
          <c:val>
            <c:numRef>
              <c:f>'Chart Data'!$F$2:$F$2</c:f>
              <c:numCache>
                <c:formatCode>0.00</c:formatCode>
                <c:ptCount val="1"/>
                <c:pt idx="0">
                  <c:v>26.14</c:v>
                </c:pt>
              </c:numCache>
            </c:numRef>
          </c:val>
        </c:ser>
        <c:dLbls>
          <c:txPr>
            <a:bodyPr xmlns:a="http://schemas.openxmlformats.org/drawingml/2006/main" anchorCtr="1"/>
            <a:lstStyle xmlns:a="http://schemas.openxmlformats.org/drawingml/2006/main"/>
            <a:p xmlns:a="http://schemas.openxmlformats.org/drawingml/2006/main">
              <a:pPr>
                <a:defRPr sz="1725" b="1">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35"/>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5"/>
      </c:valAx>
      <c:spPr>
        <a:solidFill xmlns:a="http://schemas.openxmlformats.org/drawingml/2006/main">
          <a:srgbClr val="F5F3EE"/>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5F3EE"/>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NLL validación</c:v>
          </c:tx>
          <c:spPr>
            <a:ln xmlns:a="http://schemas.openxmlformats.org/drawingml/2006/main" w="28575">
              <a:solidFill>
                <a:srgbClr val="007D82"/>
              </a:solidFill>
            </a:ln>
          </c:spPr>
          <c:marker>
            <c:symbol val="circle"/>
            <c:size val="8"/>
            <c:spPr>
              <a:solidFill xmlns:a="http://schemas.openxmlformats.org/drawingml/2006/main">
                <a:srgbClr val="007D82"/>
              </a:solidFill>
            </c:spPr>
          </c:marker>
          <c:cat>
            <c:numRef>
              <c:f>'Chart Data'!$A$2:$A$6</c:f>
              <c:numCache>
                <c:formatCode>General</c:formatCode>
                <c:ptCount val="5"/>
                <c:pt idx="0">
                  <c:v>1</c:v>
                </c:pt>
                <c:pt idx="1">
                  <c:v>2</c:v>
                </c:pt>
                <c:pt idx="2">
                  <c:v>3</c:v>
                </c:pt>
                <c:pt idx="3">
                  <c:v>4</c:v>
                </c:pt>
                <c:pt idx="4">
                  <c:v>5</c:v>
                </c:pt>
              </c:numCache>
            </c:numRef>
          </c:cat>
          <c:val>
            <c:numRef>
              <c:f>'Chart Data'!$B$2:$B$6</c:f>
              <c:numCache>
                <c:formatCode>0.00</c:formatCode>
                <c:ptCount val="5"/>
                <c:pt idx="0">
                  <c:v>4.735269</c:v>
                </c:pt>
                <c:pt idx="1">
                  <c:v>4.560749</c:v>
                </c:pt>
                <c:pt idx="2">
                  <c:v>4.45554</c:v>
                </c:pt>
                <c:pt idx="3">
                  <c:v>4.383663</c:v>
                </c:pt>
                <c:pt idx="4">
                  <c:v>4.33876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4.8"/>
          <c:min val="4.3"/>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NLL de validación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0.1"/>
      </c:valAx>
      <c:spPr>
        <a:solidFill xmlns:a="http://schemas.openxmlformats.org/drawingml/2006/main">
          <a:srgbClr val="F5F3EE"/>
        </a:solidFill>
      </c:spPr>
    </c:plotArea>
    <c:plotVisOnly val="1"/>
  </c:chart>
  <c:spPr>
    <a:solidFill xmlns:a="http://schemas.openxmlformats.org/drawingml/2006/main">
      <a:srgbClr val="F5F3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F30"/>
        </a:solidFill>
      </p:bgPr>
    </p:bg>
    <p:spTree>
      <p:nvGrpSpPr>
        <p:cNvPr id="1" name=""/>
        <p:cNvGrpSpPr/>
        <p:nvPr/>
      </p:nvGrpSpPr>
      <p:grpSpPr>
        <a:xfrm xmlns:a="http://schemas.openxmlformats.org/drawingml/2006/main"/>
      </p:grpSpPr>
      <p:sp>
        <p:nvSpPr>
          <p:cNvPr id="8" name=" ">
            <a:extLst xmlns:a="http://schemas.openxmlformats.org/drawingml/2006/main">
              <a:ext uri="{FF2B5EF4-FFF2-40B4-BE49-F238E27FC236}">
                <a16:creationId xmlns:a16="http://schemas.microsoft.com/office/drawing/2014/main" id="{31ED3A8E-9BB6-4EBF-98AB-6C565E3A001E}"/>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 </a:t>
            </a:r>
          </a:p>
        </p:txBody>
      </p:sp>
      <p:sp>
        <p:nvSpPr>
          <p:cNvPr id="2" name="01 / 12">
            <a:extLst xmlns:a="http://schemas.openxmlformats.org/drawingml/2006/main">
              <a:ext uri="{FF2B5EF4-FFF2-40B4-BE49-F238E27FC236}">
                <a16:creationId xmlns:a16="http://schemas.microsoft.com/office/drawing/2014/main" id="{96D9D4FC-A416-423B-BD92-CA6322AF5B4D}"/>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EC6CF"/>
                </a:solidFill>
                <a:latin typeface="Arial"/>
                <a:ea typeface="Arial"/>
                <a:cs typeface="Arial"/>
              </a:defRPr>
            </a:pPr>
            <a:r>
              <a:rPr sz="1350" b="0">
                <a:solidFill>
                  <a:srgbClr val="AEC6CF"/>
                </a:solidFill>
                <a:latin typeface="Arial"/>
                <a:ea typeface="Arial"/>
                <a:cs typeface="Arial"/>
              </a:rPr>
              <a:t>01 / 12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5966f35a9be4e7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4" name="RNN y LSTM">
            <a:extLst xmlns:a="http://schemas.openxmlformats.org/drawingml/2006/main">
              <a:ext uri="{FF2B5EF4-FFF2-40B4-BE49-F238E27FC236}">
                <a16:creationId xmlns:a16="http://schemas.microsoft.com/office/drawing/2014/main" id="{2ED1558A-9A76-4A85-9F57-74AFB9B426DF}"/>
              </a:ext>
            </a:extLst>
          </p:cNvPr>
          <p:cNvSpPr>
            <a:spLocks xmlns:a="http://schemas.openxmlformats.org/drawingml/2006/main" noGrp="1"/>
          </p:cNvSpPr>
          <p:nvPr/>
        </p:nvSpPr>
        <p:spPr>
          <a:xfrm xmlns:a="http://schemas.openxmlformats.org/drawingml/2006/main">
            <a:off x="609600" y="1381125"/>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RNN y LSTM</a:t>
            </a:r>
          </a:p>
        </p:txBody>
      </p:sp>
      <p:sp>
        <p:nvSpPr>
          <p:cNvPr id="5" name="Autocompletado&#10;en español">
            <a:extLst xmlns:a="http://schemas.openxmlformats.org/drawingml/2006/main">
              <a:ext uri="{FF2B5EF4-FFF2-40B4-BE49-F238E27FC236}">
                <a16:creationId xmlns:a16="http://schemas.microsoft.com/office/drawing/2014/main" id="{4BF2BB41-4D61-4AED-AB89-C63D0031CD0A}"/>
              </a:ext>
            </a:extLst>
          </p:cNvPr>
          <p:cNvSpPr>
            <a:spLocks xmlns:a="http://schemas.openxmlformats.org/drawingml/2006/main" noGrp="1"/>
          </p:cNvSpPr>
          <p:nvPr/>
        </p:nvSpPr>
        <p:spPr>
          <a:xfrm xmlns:a="http://schemas.openxmlformats.org/drawingml/2006/main">
            <a:off x="609600" y="2400300"/>
            <a:ext cx="695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Autocompletado</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en español</a:t>
            </a:r>
          </a:p>
        </p:txBody>
      </p:sp>
      <p:sp>
        <p:nvSpPr>
          <p:cNvPr id="6" name="Base de Conocimiento / ESPOCH&#10;Grupo 5 / 6 de octubre de">
            <a:extLst xmlns:a="http://schemas.openxmlformats.org/drawingml/2006/main">
              <a:ext uri="{FF2B5EF4-FFF2-40B4-BE49-F238E27FC236}">
                <a16:creationId xmlns:a16="http://schemas.microsoft.com/office/drawing/2014/main" id="{3DF1CF73-A96E-47BD-8863-B22631CD74D0}"/>
              </a:ext>
            </a:extLst>
          </p:cNvPr>
          <p:cNvSpPr>
            <a:spLocks xmlns:a="http://schemas.openxmlformats.org/drawingml/2006/main" noGrp="1"/>
          </p:cNvSpPr>
          <p:nvPr/>
        </p:nvSpPr>
        <p:spPr>
          <a:xfrm xmlns:a="http://schemas.openxmlformats.org/drawingml/2006/main">
            <a:off x="609600" y="4095750"/>
            <a:ext cx="657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7D9DC"/>
                </a:solidFill>
                <a:latin typeface="Arial"/>
                <a:ea typeface="Arial"/>
                <a:cs typeface="Arial"/>
              </a:defRPr>
            </a:pPr>
            <a:r>
              <a:rPr sz="1875" b="0">
                <a:solidFill>
                  <a:srgbClr val="B7D9DC"/>
                </a:solidFill>
                <a:latin typeface="Arial"/>
                <a:ea typeface="Arial"/>
                <a:cs typeface="Arial"/>
              </a:rPr>
              <a:t>Base de Conocimiento / ESPOCH</a:t>
            </a:r>
          </a:p>
          <a:p xmlns:a="http://schemas.openxmlformats.org/drawingml/2006/main">
            <a:pPr>
              <a:defRPr sz="1875" b="0">
                <a:solidFill>
                  <a:srgbClr val="B7D9DC"/>
                </a:solidFill>
                <a:latin typeface="Arial"/>
                <a:ea typeface="Arial"/>
                <a:cs typeface="Arial"/>
              </a:defRPr>
            </a:pPr>
            <a:r>
              <a:rPr sz="1875" b="0">
                <a:solidFill>
                  <a:srgbClr val="B7D9DC"/>
                </a:solidFill>
                <a:latin typeface="Arial"/>
                <a:ea typeface="Arial"/>
                <a:cs typeface="Arial"/>
              </a:rPr>
              <a:t>Grupo 5 / 6 de octubre de 2026</a:t>
            </a:r>
          </a:p>
        </p:txBody>
      </p:sp>
      <p:sp>
        <p:nvSpPr>
          <p:cNvPr id="7" name="Angel David Gadvay Cepeda · Walter Padilla&#10;Jaime Morale">
            <a:extLst xmlns:a="http://schemas.openxmlformats.org/drawingml/2006/main">
              <a:ext uri="{FF2B5EF4-FFF2-40B4-BE49-F238E27FC236}">
                <a16:creationId xmlns:a16="http://schemas.microsoft.com/office/drawing/2014/main" id="{CF514024-7536-4838-B1B0-4AA9FFFD8001}"/>
              </a:ext>
            </a:extLst>
          </p:cNvPr>
          <p:cNvSpPr>
            <a:spLocks xmlns:a="http://schemas.openxmlformats.org/drawingml/2006/main" noGrp="1"/>
          </p:cNvSpPr>
          <p:nvPr/>
        </p:nvSpPr>
        <p:spPr>
          <a:xfrm xmlns:a="http://schemas.openxmlformats.org/drawingml/2006/main">
            <a:off x="609600" y="5305425"/>
            <a:ext cx="7239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Angel David Gadvay Cepeda · Walter Padilla</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Jaime Morales · Jose Nieto</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Bryan Lema · Max Viteri</a:t>
            </a:r>
          </a:p>
        </p:txBody>
      </p:sp>
    </p:spTree>
    <p:extLst>
      <p:ext uri="{BB962C8B-B14F-4D97-AF65-F5344CB8AC3E}">
        <p14:creationId xmlns:p14="http://schemas.microsoft.com/office/powerpoint/2010/main" val="130150313"/>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9" name="Predicción de la siguiente palabra">
            <a:extLst xmlns:a="http://schemas.openxmlformats.org/drawingml/2006/main">
              <a:ext uri="{FF2B5EF4-FFF2-40B4-BE49-F238E27FC236}">
                <a16:creationId xmlns:a16="http://schemas.microsoft.com/office/drawing/2014/main" id="{9AE8D973-F309-4E2F-A91E-1E42D05DE7D3}"/>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Predicción de la siguiente palabra</a:t>
            </a:r>
          </a:p>
        </p:txBody>
      </p:sp>
      <p:sp>
        <p:nvSpPr>
          <p:cNvPr id="2" name="02 / 12">
            <a:extLst xmlns:a="http://schemas.openxmlformats.org/drawingml/2006/main">
              <a:ext uri="{FF2B5EF4-FFF2-40B4-BE49-F238E27FC236}">
                <a16:creationId xmlns:a16="http://schemas.microsoft.com/office/drawing/2014/main" id="{4CD62CFB-C255-4D5E-A307-71E09CF47674}"/>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02 / 12</a:t>
            </a:r>
          </a:p>
        </p:txBody>
      </p:sp>
      <p:sp>
        <p:nvSpPr>
          <p:cNvPr id="3" name="el presidente del gobierno">
            <a:extLst xmlns:a="http://schemas.openxmlformats.org/drawingml/2006/main">
              <a:ext uri="{FF2B5EF4-FFF2-40B4-BE49-F238E27FC236}">
                <a16:creationId xmlns:a16="http://schemas.microsoft.com/office/drawing/2014/main" id="{FC1D45AE-B401-4F03-82B8-BC7F2D05FE42}"/>
              </a:ext>
            </a:extLst>
          </p:cNvPr>
          <p:cNvSpPr>
            <a:spLocks xmlns:a="http://schemas.openxmlformats.org/drawingml/2006/main" noGrp="1"/>
          </p:cNvSpPr>
          <p:nvPr/>
        </p:nvSpPr>
        <p:spPr>
          <a:xfrm xmlns:a="http://schemas.openxmlformats.org/drawingml/2006/main">
            <a:off x="609600" y="1847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007D82"/>
                </a:solidFill>
                <a:latin typeface="Arial"/>
                <a:ea typeface="Arial"/>
                <a:cs typeface="Arial"/>
              </a:defRPr>
            </a:pPr>
            <a:r>
              <a:rPr sz="3975" b="1">
                <a:solidFill>
                  <a:srgbClr val="007D82"/>
                </a:solidFill>
                <a:latin typeface="Arial"/>
                <a:ea typeface="Arial"/>
                <a:cs typeface="Arial"/>
              </a:rPr>
              <a:t>el presidente del gobierno</a:t>
            </a:r>
          </a:p>
        </p:txBody>
      </p:sp>
      <p:sp>
        <p:nvSpPr>
          <p:cNvPr id="4" name="Contexto: palabras ya escritas">
            <a:extLst xmlns:a="http://schemas.openxmlformats.org/drawingml/2006/main">
              <a:ext uri="{FF2B5EF4-FFF2-40B4-BE49-F238E27FC236}">
                <a16:creationId xmlns:a16="http://schemas.microsoft.com/office/drawing/2014/main" id="{AF406063-F093-4530-803F-CACF5CEFE501}"/>
              </a:ext>
            </a:extLst>
          </p:cNvPr>
          <p:cNvSpPr>
            <a:spLocks xmlns:a="http://schemas.openxmlformats.org/drawingml/2006/main" noGrp="1"/>
          </p:cNvSpPr>
          <p:nvPr/>
        </p:nvSpPr>
        <p:spPr>
          <a:xfrm xmlns:a="http://schemas.openxmlformats.org/drawingml/2006/main">
            <a:off x="609600" y="2667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1F30"/>
                </a:solidFill>
                <a:latin typeface="Arial"/>
                <a:ea typeface="Arial"/>
                <a:cs typeface="Arial"/>
              </a:defRPr>
            </a:pPr>
            <a:r>
              <a:rPr sz="1875" b="0">
                <a:solidFill>
                  <a:srgbClr val="101F30"/>
                </a:solidFill>
                <a:latin typeface="Arial"/>
                <a:ea typeface="Arial"/>
                <a:cs typeface="Arial"/>
              </a:rPr>
              <a:t>Contexto: palabras ya escritas</a:t>
            </a:r>
          </a:p>
        </p:txBody>
      </p:sp>
      <p:graphicFrame>
        <p:nvGraphicFramePr>
          <p:cNvPr id="13" name=""/>
          <p:cNvGraphicFramePr/>
          <p:nvPr/>
        </p:nvGraphicFramePr>
        <p:xfrm>
          <a:off xmlns:a="http://schemas.openxmlformats.org/drawingml/2006/main" x="609600" y="3476625"/>
          <a:ext xmlns:a="http://schemas.openxmlformats.org/drawingml/2006/main" cx="6477000" cy="2228850"/>
        </p:xfrm>
        <a:graphic xmlns:a="http://schemas.openxmlformats.org/drawingml/2006/main">
          <a:graphicData uri="http://schemas.openxmlformats.org/drawingml/2006/table">
            <a:tbl>
              <a:tblPr/>
              <a:tblGrid>
                <a:gridCol w="3714750"/>
                <a:gridCol w="2762250"/>
              </a:tblGrid>
              <a:tr h="557213">
                <a:tc>
                  <a:txBody>
                    <a:bodyPr>
                      <a:noAutofit/>
                    </a:bodyPr>
                    <a:lstStyle/>
                    <a:p>
                      <a:r>
                        <a:rPr sz="1950" b="1">
                          <a:solidFill>
                            <a:srgbClr val="FFFFFF"/>
                          </a:solidFill>
                          <a:latin typeface="Arial"/>
                          <a:ea typeface="Arial"/>
                          <a:cs typeface="Arial"/>
                        </a:rPr>
                        <a:t>Sugerencia observada</a:t>
                      </a:r>
                    </a:p>
                  </a:txBody>
                  <a:tcPr marL="91440" marR="91440" marT="45720" marB="45720">
                    <a:solidFill>
                      <a:srgbClr val="101F30"/>
                    </a:solidFill>
                  </a:tcPr>
                </a:tc>
                <a:tc>
                  <a:txBody>
                    <a:bodyPr>
                      <a:noAutofit/>
                    </a:bodyPr>
                    <a:lstStyle/>
                    <a:p>
                      <a:r>
                        <a:rPr sz="1950" b="1">
                          <a:solidFill>
                            <a:srgbClr val="FFFFFF"/>
                          </a:solidFill>
                          <a:latin typeface="Arial"/>
                          <a:ea typeface="Arial"/>
                          <a:cs typeface="Arial"/>
                        </a:rPr>
                        <a:t>Probabilidad del modelo</a:t>
                      </a:r>
                    </a:p>
                  </a:txBody>
                  <a:tcPr marL="91440" marR="91440" marT="45720" marB="45720">
                    <a:solidFill>
                      <a:srgbClr val="101F30"/>
                    </a:solidFill>
                  </a:tcPr>
                </a:tc>
              </a:tr>
              <a:tr h="557213">
                <a:tc>
                  <a:txBody>
                    <a:bodyPr>
                      <a:noAutofit/>
                    </a:bodyPr>
                    <a:lstStyle/>
                    <a:p>
                      <a:r>
                        <a:rPr sz="1950" b="0">
                          <a:solidFill>
                            <a:srgbClr val="101F30"/>
                          </a:solidFill>
                          <a:latin typeface="Arial"/>
                          <a:ea typeface="Arial"/>
                          <a:cs typeface="Arial"/>
                        </a:rPr>
                        <a:t>de</a:t>
                      </a:r>
                    </a:p>
                  </a:txBody>
                  <a:tcPr marL="91440" marR="91440" marT="45720" marB="45720">
                    <a:solidFill>
                      <a:srgbClr val="F5F3EE"/>
                    </a:solidFill>
                  </a:tcPr>
                </a:tc>
                <a:tc>
                  <a:txBody>
                    <a:bodyPr>
                      <a:noAutofit/>
                    </a:bodyPr>
                    <a:lstStyle/>
                    <a:p>
                      <a:r>
                        <a:rPr sz="1950" b="0">
                          <a:solidFill>
                            <a:srgbClr val="101F30"/>
                          </a:solidFill>
                          <a:latin typeface="Arial"/>
                          <a:ea typeface="Arial"/>
                          <a:cs typeface="Arial"/>
                        </a:rPr>
                        <a:t>13,77 %</a:t>
                      </a:r>
                    </a:p>
                  </a:txBody>
                  <a:tcPr marL="91440" marR="91440" marT="45720" marB="45720">
                    <a:solidFill>
                      <a:srgbClr val="F5F3EE"/>
                    </a:solidFill>
                  </a:tcPr>
                </a:tc>
              </a:tr>
              <a:tr h="557213">
                <a:tc>
                  <a:txBody>
                    <a:bodyPr>
                      <a:noAutofit/>
                    </a:bodyPr>
                    <a:lstStyle/>
                    <a:p>
                      <a:r>
                        <a:rPr sz="1950" b="0">
                          <a:solidFill>
                            <a:srgbClr val="101F30"/>
                          </a:solidFill>
                          <a:latin typeface="Arial"/>
                          <a:ea typeface="Arial"/>
                          <a:cs typeface="Arial"/>
                        </a:rPr>
                        <a:t>del</a:t>
                      </a:r>
                    </a:p>
                  </a:txBody>
                  <a:tcPr marL="91440" marR="91440" marT="45720" marB="45720">
                    <a:solidFill>
                      <a:srgbClr val="E8EDEC"/>
                    </a:solidFill>
                  </a:tcPr>
                </a:tc>
                <a:tc>
                  <a:txBody>
                    <a:bodyPr>
                      <a:noAutofit/>
                    </a:bodyPr>
                    <a:lstStyle/>
                    <a:p>
                      <a:r>
                        <a:rPr sz="1950" b="0">
                          <a:solidFill>
                            <a:srgbClr val="101F30"/>
                          </a:solidFill>
                          <a:latin typeface="Arial"/>
                          <a:ea typeface="Arial"/>
                          <a:cs typeface="Arial"/>
                        </a:rPr>
                        <a:t>7,35 %</a:t>
                      </a:r>
                    </a:p>
                  </a:txBody>
                  <a:tcPr marL="91440" marR="91440" marT="45720" marB="45720">
                    <a:solidFill>
                      <a:srgbClr val="E8EDEC"/>
                    </a:solidFill>
                  </a:tcPr>
                </a:tc>
              </a:tr>
              <a:tr h="557213">
                <a:tc>
                  <a:txBody>
                    <a:bodyPr>
                      <a:noAutofit/>
                    </a:bodyPr>
                    <a:lstStyle/>
                    <a:p>
                      <a:r>
                        <a:rPr sz="1950" b="0">
                          <a:solidFill>
                            <a:srgbClr val="101F30"/>
                          </a:solidFill>
                          <a:latin typeface="Arial"/>
                          <a:ea typeface="Arial"/>
                          <a:cs typeface="Arial"/>
                        </a:rPr>
                        <a:t>vasco</a:t>
                      </a:r>
                    </a:p>
                  </a:txBody>
                  <a:tcPr marL="91440" marR="91440" marT="45720" marB="45720">
                    <a:solidFill>
                      <a:srgbClr val="F5F3EE"/>
                    </a:solidFill>
                  </a:tcPr>
                </a:tc>
                <a:tc>
                  <a:txBody>
                    <a:bodyPr>
                      <a:noAutofit/>
                    </a:bodyPr>
                    <a:lstStyle/>
                    <a:p>
                      <a:r>
                        <a:rPr sz="1950" b="0">
                          <a:solidFill>
                            <a:srgbClr val="101F30"/>
                          </a:solidFill>
                          <a:latin typeface="Arial"/>
                          <a:ea typeface="Arial"/>
                          <a:cs typeface="Arial"/>
                        </a:rPr>
                        <a:t>3,00 %</a:t>
                      </a:r>
                    </a:p>
                  </a:txBody>
                  <a:tcPr marL="91440" marR="91440" marT="45720" marB="45720">
                    <a:solidFill>
                      <a:srgbClr val="F5F3EE"/>
                    </a:solidFill>
                  </a:tcPr>
                </a:tc>
              </a:tr>
            </a:tbl>
          </a:graphicData>
        </a:graphic>
      </p:graphicFrame>
      <p:sp>
        <p:nvSpPr>
          <p:cNvPr id="6" name="Utilidad">
            <a:extLst xmlns:a="http://schemas.openxmlformats.org/drawingml/2006/main">
              <a:ext uri="{FF2B5EF4-FFF2-40B4-BE49-F238E27FC236}">
                <a16:creationId xmlns:a16="http://schemas.microsoft.com/office/drawing/2014/main" id="{1D8E7F82-C4F7-4B46-A692-04F43175E933}"/>
              </a:ext>
            </a:extLst>
          </p:cNvPr>
          <p:cNvSpPr>
            <a:spLocks xmlns:a="http://schemas.openxmlformats.org/drawingml/2006/main" noGrp="1"/>
          </p:cNvSpPr>
          <p:nvPr/>
        </p:nvSpPr>
        <p:spPr>
          <a:xfrm xmlns:a="http://schemas.openxmlformats.org/drawingml/2006/main">
            <a:off x="7667625" y="344805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F30"/>
                </a:solidFill>
                <a:latin typeface="Arial"/>
                <a:ea typeface="Arial"/>
                <a:cs typeface="Arial"/>
              </a:defRPr>
            </a:pPr>
            <a:r>
              <a:rPr sz="2250" b="1">
                <a:solidFill>
                  <a:srgbClr val="101F30"/>
                </a:solidFill>
                <a:latin typeface="Arial"/>
                <a:ea typeface="Arial"/>
                <a:cs typeface="Arial"/>
              </a:rPr>
              <a:t>Utilidad</a:t>
            </a:r>
          </a:p>
        </p:txBody>
      </p:sp>
      <p:sp>
        <p:nvSpPr>
          <p:cNvPr id="7" name="Apoyo a la escritura en editores y formularios.&#10;&#10;La per">
            <a:extLst xmlns:a="http://schemas.openxmlformats.org/drawingml/2006/main">
              <a:ext uri="{FF2B5EF4-FFF2-40B4-BE49-F238E27FC236}">
                <a16:creationId xmlns:a16="http://schemas.microsoft.com/office/drawing/2014/main" id="{59B2CF40-6257-48D9-89D8-B86255C09A28}"/>
              </a:ext>
            </a:extLst>
          </p:cNvPr>
          <p:cNvSpPr>
            <a:spLocks xmlns:a="http://schemas.openxmlformats.org/drawingml/2006/main" noGrp="1"/>
          </p:cNvSpPr>
          <p:nvPr/>
        </p:nvSpPr>
        <p:spPr>
          <a:xfrm xmlns:a="http://schemas.openxmlformats.org/drawingml/2006/main">
            <a:off x="7667625" y="3943350"/>
            <a:ext cx="37147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F30"/>
                </a:solidFill>
                <a:latin typeface="Arial"/>
                <a:ea typeface="Arial"/>
                <a:cs typeface="Arial"/>
              </a:defRPr>
            </a:pPr>
            <a:r>
              <a:rPr sz="2025" b="0">
                <a:solidFill>
                  <a:srgbClr val="101F30"/>
                </a:solidFill>
                <a:latin typeface="Arial"/>
                <a:ea typeface="Arial"/>
                <a:cs typeface="Arial"/>
              </a:rPr>
              <a:t>Apoyo a la escritura en editores y formularios.</a:t>
            </a:r>
          </a:p>
          <a:p xmlns:a="http://schemas.openxmlformats.org/drawingml/2006/main">
            <a:r>
              <a:t/>
            </a:r>
          </a:p>
          <a:p xmlns:a="http://schemas.openxmlformats.org/drawingml/2006/main">
            <a:pPr>
              <a:defRPr sz="2025" b="0">
                <a:solidFill>
                  <a:srgbClr val="101F30"/>
                </a:solidFill>
                <a:latin typeface="Arial"/>
                <a:ea typeface="Arial"/>
                <a:cs typeface="Arial"/>
              </a:defRPr>
            </a:pPr>
            <a:r>
              <a:rPr sz="2025" b="0">
                <a:solidFill>
                  <a:srgbClr val="101F30"/>
                </a:solidFill>
                <a:latin typeface="Arial"/>
                <a:ea typeface="Arial"/>
                <a:cs typeface="Arial"/>
              </a:rPr>
              <a:t>La persona elige si acepta una propuesta.</a:t>
            </a:r>
          </a:p>
        </p:txBody>
      </p:sp>
      <p:sp>
        <p:nvSpPr>
          <p:cNvPr id="8" name="Se muestran tres de las cinco sugerencias de una consul">
            <a:extLst xmlns:a="http://schemas.openxmlformats.org/drawingml/2006/main">
              <a:ext uri="{FF2B5EF4-FFF2-40B4-BE49-F238E27FC236}">
                <a16:creationId xmlns:a16="http://schemas.microsoft.com/office/drawing/2014/main" id="{CDC5416D-74F6-4300-90D4-E2C2215AB730}"/>
              </a:ext>
            </a:extLst>
          </p:cNvPr>
          <p:cNvSpPr>
            <a:spLocks xmlns:a="http://schemas.openxmlformats.org/drawingml/2006/main" noGrp="1"/>
          </p:cNvSpPr>
          <p:nvPr/>
        </p:nvSpPr>
        <p:spPr>
          <a:xfrm xmlns:a="http://schemas.openxmlformats.org/drawingml/2006/main">
            <a:off x="609600" y="602932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6B"/>
                </a:solidFill>
                <a:latin typeface="Arial"/>
                <a:ea typeface="Arial"/>
                <a:cs typeface="Arial"/>
              </a:defRPr>
            </a:pPr>
            <a:r>
              <a:rPr sz="1425" b="0">
                <a:solidFill>
                  <a:srgbClr val="52616B"/>
                </a:solidFill>
                <a:latin typeface="Arial"/>
                <a:ea typeface="Arial"/>
                <a:cs typeface="Arial"/>
              </a:rPr>
              <a:t>Se muestran tres de las cinco sugerencias de una consulta guardada.</a:t>
            </a:r>
          </a:p>
        </p:txBody>
      </p:sp>
    </p:spTree>
    <p:extLst>
      <p:ext uri="{BB962C8B-B14F-4D97-AF65-F5344CB8AC3E}">
        <p14:creationId xmlns:p14="http://schemas.microsoft.com/office/powerpoint/2010/main" val="1065383389"/>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6" name="RNN: actualización del estado">
            <a:extLst xmlns:a="http://schemas.openxmlformats.org/drawingml/2006/main">
              <a:ext uri="{FF2B5EF4-FFF2-40B4-BE49-F238E27FC236}">
                <a16:creationId xmlns:a16="http://schemas.microsoft.com/office/drawing/2014/main" id="{4D4AE03F-61F7-486C-89D6-CB8CC22528E2}"/>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RNN: actualización del estado</a:t>
            </a:r>
          </a:p>
        </p:txBody>
      </p:sp>
      <p:sp>
        <p:nvSpPr>
          <p:cNvPr id="2" name="03 / 12">
            <a:extLst xmlns:a="http://schemas.openxmlformats.org/drawingml/2006/main">
              <a:ext uri="{FF2B5EF4-FFF2-40B4-BE49-F238E27FC236}">
                <a16:creationId xmlns:a16="http://schemas.microsoft.com/office/drawing/2014/main" id="{2AD24326-3376-475F-A634-F31F1BFCD61F}"/>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03 / 12</a:t>
            </a:r>
          </a:p>
        </p:txBody>
      </p:sp>
      <p:graphicFrame>
        <p:nvGraphicFramePr>
          <p:cNvPr id="8" name=""/>
          <p:cNvGraphicFramePr/>
          <p:nvPr/>
        </p:nvGraphicFramePr>
        <p:xfrm>
          <a:off xmlns:a="http://schemas.openxmlformats.org/drawingml/2006/main" x="609600" y="1809750"/>
          <a:ext xmlns:a="http://schemas.openxmlformats.org/drawingml/2006/main" cx="10953750" cy="2438400"/>
        </p:xfrm>
        <a:graphic xmlns:a="http://schemas.openxmlformats.org/drawingml/2006/main">
          <a:graphicData uri="http://schemas.openxmlformats.org/drawingml/2006/table">
            <a:tbl>
              <a:tblPr/>
              <a:tblGrid>
                <a:gridCol w="1143000"/>
                <a:gridCol w="2524125"/>
                <a:gridCol w="7286625"/>
              </a:tblGrid>
              <a:tr h="609600">
                <a:tc>
                  <a:txBody>
                    <a:bodyPr>
                      <a:noAutofit/>
                    </a:bodyPr>
                    <a:lstStyle/>
                    <a:p>
                      <a:r>
                        <a:rPr sz="2025" b="1">
                          <a:solidFill>
                            <a:srgbClr val="FFFFFF"/>
                          </a:solidFill>
                          <a:latin typeface="Arial"/>
                          <a:ea typeface="Arial"/>
                          <a:cs typeface="Arial"/>
                        </a:rPr>
                        <a:t>Paso</a:t>
                      </a:r>
                    </a:p>
                  </a:txBody>
                  <a:tcPr marL="91440" marR="91440" marT="45720" marB="45720">
                    <a:solidFill>
                      <a:srgbClr val="101F30"/>
                    </a:solidFill>
                  </a:tcPr>
                </a:tc>
                <a:tc>
                  <a:txBody>
                    <a:bodyPr>
                      <a:noAutofit/>
                    </a:bodyPr>
                    <a:lstStyle/>
                    <a:p>
                      <a:r>
                        <a:rPr sz="2025" b="1">
                          <a:solidFill>
                            <a:srgbClr val="FFFFFF"/>
                          </a:solidFill>
                          <a:latin typeface="Arial"/>
                          <a:ea typeface="Arial"/>
                          <a:cs typeface="Arial"/>
                        </a:rPr>
                        <a:t>Palabra</a:t>
                      </a:r>
                    </a:p>
                  </a:txBody>
                  <a:tcPr marL="91440" marR="91440" marT="45720" marB="45720">
                    <a:solidFill>
                      <a:srgbClr val="101F30"/>
                    </a:solidFill>
                  </a:tcPr>
                </a:tc>
                <a:tc>
                  <a:txBody>
                    <a:bodyPr>
                      <a:noAutofit/>
                    </a:bodyPr>
                    <a:lstStyle/>
                    <a:p>
                      <a:r>
                        <a:rPr sz="2025" b="1">
                          <a:solidFill>
                            <a:srgbClr val="FFFFFF"/>
                          </a:solidFill>
                          <a:latin typeface="Arial"/>
                          <a:ea typeface="Arial"/>
                          <a:cs typeface="Arial"/>
                        </a:rPr>
                        <a:t>Operación</a:t>
                      </a:r>
                    </a:p>
                  </a:txBody>
                  <a:tcPr marL="91440" marR="91440" marT="45720" marB="45720">
                    <a:solidFill>
                      <a:srgbClr val="101F30"/>
                    </a:solidFill>
                  </a:tcPr>
                </a:tc>
              </a:tr>
              <a:tr h="609600">
                <a:tc>
                  <a:txBody>
                    <a:bodyPr>
                      <a:noAutofit/>
                    </a:bodyPr>
                    <a:lstStyle/>
                    <a:p>
                      <a:r>
                        <a:rPr sz="2025" b="0">
                          <a:solidFill>
                            <a:srgbClr val="101F30"/>
                          </a:solidFill>
                          <a:latin typeface="Arial"/>
                          <a:ea typeface="Arial"/>
                          <a:cs typeface="Arial"/>
                        </a:rPr>
                        <a:t>1</a:t>
                      </a:r>
                    </a:p>
                  </a:txBody>
                  <a:tcPr marL="91440" marR="91440" marT="45720" marB="45720">
                    <a:solidFill>
                      <a:srgbClr val="F5F3EE"/>
                    </a:solidFill>
                  </a:tcPr>
                </a:tc>
                <a:tc>
                  <a:txBody>
                    <a:bodyPr>
                      <a:noAutofit/>
                    </a:bodyPr>
                    <a:lstStyle/>
                    <a:p>
                      <a:r>
                        <a:rPr sz="2025" b="0">
                          <a:solidFill>
                            <a:srgbClr val="101F30"/>
                          </a:solidFill>
                          <a:latin typeface="Arial"/>
                          <a:ea typeface="Arial"/>
                          <a:cs typeface="Arial"/>
                        </a:rPr>
                        <a:t>el</a:t>
                      </a:r>
                    </a:p>
                  </a:txBody>
                  <a:tcPr marL="91440" marR="91440" marT="45720" marB="45720">
                    <a:solidFill>
                      <a:srgbClr val="F5F3EE"/>
                    </a:solidFill>
                  </a:tcPr>
                </a:tc>
                <a:tc>
                  <a:txBody>
                    <a:bodyPr>
                      <a:noAutofit/>
                    </a:bodyPr>
                    <a:lstStyle/>
                    <a:p>
                      <a:r>
                        <a:rPr sz="2025" b="0">
                          <a:solidFill>
                            <a:srgbClr val="101F30"/>
                          </a:solidFill>
                          <a:latin typeface="Arial"/>
                          <a:ea typeface="Arial"/>
                          <a:cs typeface="Arial"/>
                        </a:rPr>
                        <a:t>Actualizar con el estado inicial</a:t>
                      </a:r>
                    </a:p>
                  </a:txBody>
                  <a:tcPr marL="91440" marR="91440" marT="45720" marB="45720">
                    <a:solidFill>
                      <a:srgbClr val="F5F3EE"/>
                    </a:solidFill>
                  </a:tcPr>
                </a:tc>
              </a:tr>
              <a:tr h="609600">
                <a:tc>
                  <a:txBody>
                    <a:bodyPr>
                      <a:noAutofit/>
                    </a:bodyPr>
                    <a:lstStyle/>
                    <a:p>
                      <a:r>
                        <a:rPr sz="2025" b="0">
                          <a:solidFill>
                            <a:srgbClr val="101F30"/>
                          </a:solidFill>
                          <a:latin typeface="Arial"/>
                          <a:ea typeface="Arial"/>
                          <a:cs typeface="Arial"/>
                        </a:rPr>
                        <a:t>2</a:t>
                      </a:r>
                    </a:p>
                  </a:txBody>
                  <a:tcPr marL="91440" marR="91440" marT="45720" marB="45720">
                    <a:solidFill>
                      <a:srgbClr val="E8EDEC"/>
                    </a:solidFill>
                  </a:tcPr>
                </a:tc>
                <a:tc>
                  <a:txBody>
                    <a:bodyPr>
                      <a:noAutofit/>
                    </a:bodyPr>
                    <a:lstStyle/>
                    <a:p>
                      <a:r>
                        <a:rPr sz="2025" b="0">
                          <a:solidFill>
                            <a:srgbClr val="101F30"/>
                          </a:solidFill>
                          <a:latin typeface="Arial"/>
                          <a:ea typeface="Arial"/>
                          <a:cs typeface="Arial"/>
                        </a:rPr>
                        <a:t>gobierno</a:t>
                      </a:r>
                    </a:p>
                  </a:txBody>
                  <a:tcPr marL="91440" marR="91440" marT="45720" marB="45720">
                    <a:solidFill>
                      <a:srgbClr val="E8EDEC"/>
                    </a:solidFill>
                  </a:tcPr>
                </a:tc>
                <a:tc>
                  <a:txBody>
                    <a:bodyPr>
                      <a:noAutofit/>
                    </a:bodyPr>
                    <a:lstStyle/>
                    <a:p>
                      <a:r>
                        <a:rPr sz="2025" b="0">
                          <a:solidFill>
                            <a:srgbClr val="101F30"/>
                          </a:solidFill>
                          <a:latin typeface="Arial"/>
                          <a:ea typeface="Arial"/>
                          <a:cs typeface="Arial"/>
                        </a:rPr>
                        <a:t>Combinar palabra y estado anterior</a:t>
                      </a:r>
                    </a:p>
                  </a:txBody>
                  <a:tcPr marL="91440" marR="91440" marT="45720" marB="45720">
                    <a:solidFill>
                      <a:srgbClr val="E8EDEC"/>
                    </a:solidFill>
                  </a:tcPr>
                </a:tc>
              </a:tr>
              <a:tr h="609600">
                <a:tc>
                  <a:txBody>
                    <a:bodyPr>
                      <a:noAutofit/>
                    </a:bodyPr>
                    <a:lstStyle/>
                    <a:p>
                      <a:r>
                        <a:rPr sz="2025" b="0">
                          <a:solidFill>
                            <a:srgbClr val="101F30"/>
                          </a:solidFill>
                          <a:latin typeface="Arial"/>
                          <a:ea typeface="Arial"/>
                          <a:cs typeface="Arial"/>
                        </a:rPr>
                        <a:t>3</a:t>
                      </a:r>
                    </a:p>
                  </a:txBody>
                  <a:tcPr marL="91440" marR="91440" marT="45720" marB="45720">
                    <a:solidFill>
                      <a:srgbClr val="F5F3EE"/>
                    </a:solidFill>
                  </a:tcPr>
                </a:tc>
                <a:tc>
                  <a:txBody>
                    <a:bodyPr>
                      <a:noAutofit/>
                    </a:bodyPr>
                    <a:lstStyle/>
                    <a:p>
                      <a:r>
                        <a:rPr sz="2025" b="0">
                          <a:solidFill>
                            <a:srgbClr val="101F30"/>
                          </a:solidFill>
                          <a:latin typeface="Arial"/>
                          <a:ea typeface="Arial"/>
                          <a:cs typeface="Arial"/>
                        </a:rPr>
                        <a:t>anunció</a:t>
                      </a:r>
                    </a:p>
                  </a:txBody>
                  <a:tcPr marL="91440" marR="91440" marT="45720" marB="45720">
                    <a:solidFill>
                      <a:srgbClr val="F5F3EE"/>
                    </a:solidFill>
                  </a:tcPr>
                </a:tc>
                <a:tc>
                  <a:txBody>
                    <a:bodyPr>
                      <a:noAutofit/>
                    </a:bodyPr>
                    <a:lstStyle/>
                    <a:p>
                      <a:r>
                        <a:rPr sz="2025" b="0">
                          <a:solidFill>
                            <a:srgbClr val="101F30"/>
                          </a:solidFill>
                          <a:latin typeface="Arial"/>
                          <a:ea typeface="Arial"/>
                          <a:cs typeface="Arial"/>
                        </a:rPr>
                        <a:t>Actualizar y preparar la predicción</a:t>
                      </a:r>
                    </a:p>
                  </a:txBody>
                  <a:tcPr marL="91440" marR="91440" marT="45720" marB="45720">
                    <a:solidFill>
                      <a:srgbClr val="F5F3EE"/>
                    </a:solidFill>
                  </a:tcPr>
                </a:tc>
              </a:tr>
            </a:tbl>
          </a:graphicData>
        </a:graphic>
      </p:graphicFrame>
      <p:sp>
        <p:nvSpPr>
          <p:cNvPr id="4" name="hₜ = tanh(Wₓ xₜ + Wₕ hₜ₋₁ + b)">
            <a:extLst xmlns:a="http://schemas.openxmlformats.org/drawingml/2006/main">
              <a:ext uri="{FF2B5EF4-FFF2-40B4-BE49-F238E27FC236}">
                <a16:creationId xmlns:a16="http://schemas.microsoft.com/office/drawing/2014/main" id="{C76F7E6D-F5B8-4927-AD3F-01A6A8321A85}"/>
              </a:ext>
            </a:extLst>
          </p:cNvPr>
          <p:cNvSpPr>
            <a:spLocks xmlns:a="http://schemas.openxmlformats.org/drawingml/2006/main" noGrp="1"/>
          </p:cNvSpPr>
          <p:nvPr/>
        </p:nvSpPr>
        <p:spPr>
          <a:xfrm xmlns:a="http://schemas.openxmlformats.org/drawingml/2006/main">
            <a:off x="609600" y="4572000"/>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D82"/>
                </a:solidFill>
                <a:latin typeface="Arial"/>
                <a:ea typeface="Arial"/>
                <a:cs typeface="Arial"/>
              </a:defRPr>
            </a:pPr>
            <a:r>
              <a:rPr sz="2925" b="1">
                <a:solidFill>
                  <a:srgbClr val="007D82"/>
                </a:solidFill>
                <a:latin typeface="Arial"/>
                <a:ea typeface="Arial"/>
                <a:cs typeface="Arial"/>
              </a:rPr>
              <a:t>hₜ = tanh(Wₓ xₜ + Wₕ hₜ₋₁ + b)</a:t>
            </a:r>
          </a:p>
        </p:txBody>
      </p:sp>
      <p:sp>
        <p:nvSpPr>
          <p:cNvPr id="5" name="Mismos pesos en cada paso. Estado de 64 valores.&#10;Dificu">
            <a:extLst xmlns:a="http://schemas.openxmlformats.org/drawingml/2006/main">
              <a:ext uri="{FF2B5EF4-FFF2-40B4-BE49-F238E27FC236}">
                <a16:creationId xmlns:a16="http://schemas.microsoft.com/office/drawing/2014/main" id="{02A64343-0B84-4B6D-8DC4-FD7810C9306B}"/>
              </a:ext>
            </a:extLst>
          </p:cNvPr>
          <p:cNvSpPr>
            <a:spLocks xmlns:a="http://schemas.openxmlformats.org/drawingml/2006/main" noGrp="1"/>
          </p:cNvSpPr>
          <p:nvPr/>
        </p:nvSpPr>
        <p:spPr>
          <a:xfrm xmlns:a="http://schemas.openxmlformats.org/drawingml/2006/main">
            <a:off x="609600" y="54006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1F30"/>
                </a:solidFill>
                <a:latin typeface="Arial"/>
                <a:ea typeface="Arial"/>
                <a:cs typeface="Arial"/>
              </a:defRPr>
            </a:pPr>
            <a:r>
              <a:rPr sz="1950" b="0">
                <a:solidFill>
                  <a:srgbClr val="101F30"/>
                </a:solidFill>
                <a:latin typeface="Arial"/>
                <a:ea typeface="Arial"/>
                <a:cs typeface="Arial"/>
              </a:rPr>
              <a:t>Mismos pesos en cada paso. Estado de 64 valores.</a:t>
            </a:r>
          </a:p>
          <a:p xmlns:a="http://schemas.openxmlformats.org/drawingml/2006/main">
            <a:pPr>
              <a:defRPr sz="1950" b="0">
                <a:solidFill>
                  <a:srgbClr val="101F30"/>
                </a:solidFill>
                <a:latin typeface="Arial"/>
                <a:ea typeface="Arial"/>
                <a:cs typeface="Arial"/>
              </a:defRPr>
            </a:pPr>
            <a:r>
              <a:rPr sz="1950" b="0">
                <a:solidFill>
                  <a:srgbClr val="101F30"/>
                </a:solidFill>
                <a:latin typeface="Arial"/>
                <a:ea typeface="Arial"/>
                <a:cs typeface="Arial"/>
              </a:rPr>
              <a:t>Dificultad: conservar información a través de muchas actualizaciones.</a:t>
            </a:r>
          </a:p>
        </p:txBody>
      </p:sp>
    </p:spTree>
    <p:extLst>
      <p:ext uri="{BB962C8B-B14F-4D97-AF65-F5344CB8AC3E}">
        <p14:creationId xmlns:p14="http://schemas.microsoft.com/office/powerpoint/2010/main" val="944036863"/>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6" name="LSTM: memoria regulada por compuertas">
            <a:extLst xmlns:a="http://schemas.openxmlformats.org/drawingml/2006/main">
              <a:ext uri="{FF2B5EF4-FFF2-40B4-BE49-F238E27FC236}">
                <a16:creationId xmlns:a16="http://schemas.microsoft.com/office/drawing/2014/main" id="{CF9B3BA7-04C3-4BB0-B941-545447B32326}"/>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LSTM: memoria regulada por compuertas</a:t>
            </a:r>
          </a:p>
        </p:txBody>
      </p:sp>
      <p:sp>
        <p:nvSpPr>
          <p:cNvPr id="2" name="04 / 12">
            <a:extLst xmlns:a="http://schemas.openxmlformats.org/drawingml/2006/main">
              <a:ext uri="{FF2B5EF4-FFF2-40B4-BE49-F238E27FC236}">
                <a16:creationId xmlns:a16="http://schemas.microsoft.com/office/drawing/2014/main" id="{427036E5-FE26-49EA-8A57-251BD2ED36C3}"/>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04 / 12</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32434713e7e4663"/>
          <a:stretch xmlns:a="http://schemas.openxmlformats.org/drawingml/2006/main"/>
        </p:blipFill>
        <p:spPr>
          <a:xfrm xmlns:a="http://schemas.openxmlformats.org/drawingml/2006/main">
            <a:off x="1775736" y="1638300"/>
            <a:ext cx="8640528" cy="3857625"/>
          </a:xfrm>
          <a:prstGeom xmlns:a="http://schemas.openxmlformats.org/drawingml/2006/main" prst="rect">
            <a:avLst/>
          </a:prstGeom>
        </p:spPr>
      </p:pic>
      <p:sp>
        <p:nvSpPr>
          <p:cNvPr id="4" name="Celda nueva = información retenida + información incorp">
            <a:extLst xmlns:a="http://schemas.openxmlformats.org/drawingml/2006/main">
              <a:ext uri="{FF2B5EF4-FFF2-40B4-BE49-F238E27FC236}">
                <a16:creationId xmlns:a16="http://schemas.microsoft.com/office/drawing/2014/main" id="{600B9643-A1BE-4167-837D-CD8C63667204}"/>
              </a:ext>
            </a:extLst>
          </p:cNvPr>
          <p:cNvSpPr>
            <a:spLocks xmlns:a="http://schemas.openxmlformats.org/drawingml/2006/main" noGrp="1"/>
          </p:cNvSpPr>
          <p:nvPr/>
        </p:nvSpPr>
        <p:spPr>
          <a:xfrm xmlns:a="http://schemas.openxmlformats.org/drawingml/2006/main">
            <a:off x="609600" y="56007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D82"/>
                </a:solidFill>
                <a:latin typeface="Arial"/>
                <a:ea typeface="Arial"/>
                <a:cs typeface="Arial"/>
              </a:defRPr>
            </a:pPr>
            <a:r>
              <a:rPr sz="2175" b="1">
                <a:solidFill>
                  <a:srgbClr val="007D82"/>
                </a:solidFill>
                <a:latin typeface="Arial"/>
                <a:ea typeface="Arial"/>
                <a:cs typeface="Arial"/>
              </a:rPr>
              <a:t>Celda nueva = información retenida + información incorporada</a:t>
            </a:r>
          </a:p>
        </p:txBody>
      </p:sp>
      <p:sp>
        <p:nvSpPr>
          <p:cNvPr id="5" name="Cada compuerta aprende cuánto regular. La ventana limit">
            <a:extLst xmlns:a="http://schemas.openxmlformats.org/drawingml/2006/main">
              <a:ext uri="{FF2B5EF4-FFF2-40B4-BE49-F238E27FC236}">
                <a16:creationId xmlns:a16="http://schemas.microsoft.com/office/drawing/2014/main" id="{C2F99320-C66F-4F89-9C32-6E2B81C97D3D}"/>
              </a:ext>
            </a:extLst>
          </p:cNvPr>
          <p:cNvSpPr>
            <a:spLocks xmlns:a="http://schemas.openxmlformats.org/drawingml/2006/main" noGrp="1"/>
          </p:cNvSpPr>
          <p:nvPr/>
        </p:nvSpPr>
        <p:spPr>
          <a:xfrm xmlns:a="http://schemas.openxmlformats.org/drawingml/2006/main">
            <a:off x="609600" y="60674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16B"/>
                </a:solidFill>
                <a:latin typeface="Arial"/>
                <a:ea typeface="Arial"/>
                <a:cs typeface="Arial"/>
              </a:defRPr>
            </a:pPr>
            <a:r>
              <a:rPr sz="1575" b="0">
                <a:solidFill>
                  <a:srgbClr val="52616B"/>
                </a:solidFill>
                <a:latin typeface="Arial"/>
                <a:ea typeface="Arial"/>
                <a:cs typeface="Arial"/>
              </a:rPr>
              <a:t>Cada compuerta aprende cuánto regular. La ventana limita el contexto disponible.</a:t>
            </a:r>
          </a:p>
        </p:txBody>
      </p:sp>
    </p:spTree>
    <p:extLst>
      <p:ext uri="{BB962C8B-B14F-4D97-AF65-F5344CB8AC3E}">
        <p14:creationId xmlns:p14="http://schemas.microsoft.com/office/powerpoint/2010/main" val="1613680591"/>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8" name="Datos en español y separación por documento">
            <a:extLst xmlns:a="http://schemas.openxmlformats.org/drawingml/2006/main">
              <a:ext uri="{FF2B5EF4-FFF2-40B4-BE49-F238E27FC236}">
                <a16:creationId xmlns:a16="http://schemas.microsoft.com/office/drawing/2014/main" id="{35101477-887F-4316-80C5-4F57CEA81F6F}"/>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Datos en español y separación por documento</a:t>
            </a:r>
          </a:p>
        </p:txBody>
      </p:sp>
      <p:sp>
        <p:nvSpPr>
          <p:cNvPr id="2" name="05 / 12">
            <a:extLst xmlns:a="http://schemas.openxmlformats.org/drawingml/2006/main">
              <a:ext uri="{FF2B5EF4-FFF2-40B4-BE49-F238E27FC236}">
                <a16:creationId xmlns:a16="http://schemas.microsoft.com/office/drawing/2014/main" id="{9AF65507-F1C9-497A-8962-F9929751028F}"/>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05 / 12</a:t>
            </a:r>
          </a:p>
        </p:txBody>
      </p:sp>
      <p:graphicFrame>
        <p:nvGraphicFramePr>
          <p:cNvPr id="10" name=""/>
          <p:cNvGraphicFramePr/>
          <p:nvPr/>
        </p:nvGraphicFramePr>
        <p:xfrm>
          <a:off xmlns:a="http://schemas.openxmlformats.org/drawingml/2006/main" x="609600" y="1714500"/>
          <a:ext xmlns:a="http://schemas.openxmlformats.org/drawingml/2006/main" cx="10953750" cy="2476500"/>
        </p:xfrm>
        <a:graphic xmlns:a="http://schemas.openxmlformats.org/drawingml/2006/main">
          <a:graphicData uri="http://schemas.openxmlformats.org/drawingml/2006/table">
            <a:tbl>
              <a:tblPr/>
              <a:tblGrid>
                <a:gridCol w="4286250"/>
                <a:gridCol w="2667000"/>
                <a:gridCol w="4000500"/>
              </a:tblGrid>
              <a:tr h="619125">
                <a:tc>
                  <a:txBody>
                    <a:bodyPr>
                      <a:noAutofit/>
                    </a:bodyPr>
                    <a:lstStyle/>
                    <a:p>
                      <a:r>
                        <a:rPr sz="2100" b="1">
                          <a:solidFill>
                            <a:srgbClr val="FFFFFF"/>
                          </a:solidFill>
                          <a:latin typeface="Arial"/>
                          <a:ea typeface="Arial"/>
                          <a:cs typeface="Arial"/>
                        </a:rPr>
                        <a:t>Partición</a:t>
                      </a:r>
                    </a:p>
                  </a:txBody>
                  <a:tcPr marL="91440" marR="91440" marT="45720" marB="45720">
                    <a:solidFill>
                      <a:srgbClr val="101F30"/>
                    </a:solidFill>
                  </a:tcPr>
                </a:tc>
                <a:tc>
                  <a:txBody>
                    <a:bodyPr>
                      <a:noAutofit/>
                    </a:bodyPr>
                    <a:lstStyle/>
                    <a:p>
                      <a:r>
                        <a:rPr sz="2100" b="1">
                          <a:solidFill>
                            <a:srgbClr val="FFFFFF"/>
                          </a:solidFill>
                          <a:latin typeface="Arial"/>
                          <a:ea typeface="Arial"/>
                          <a:cs typeface="Arial"/>
                        </a:rPr>
                        <a:t>Documentos</a:t>
                      </a:r>
                    </a:p>
                  </a:txBody>
                  <a:tcPr marL="91440" marR="91440" marT="45720" marB="45720">
                    <a:solidFill>
                      <a:srgbClr val="101F30"/>
                    </a:solidFill>
                  </a:tcPr>
                </a:tc>
                <a:tc>
                  <a:txBody>
                    <a:bodyPr>
                      <a:noAutofit/>
                    </a:bodyPr>
                    <a:lstStyle/>
                    <a:p>
                      <a:r>
                        <a:rPr sz="2100" b="1">
                          <a:solidFill>
                            <a:srgbClr val="FFFFFF"/>
                          </a:solidFill>
                          <a:latin typeface="Arial"/>
                          <a:ea typeface="Arial"/>
                          <a:cs typeface="Arial"/>
                        </a:rPr>
                        <a:t>Objetivos usados</a:t>
                      </a:r>
                    </a:p>
                  </a:txBody>
                  <a:tcPr marL="91440" marR="91440" marT="45720" marB="45720">
                    <a:solidFill>
                      <a:srgbClr val="101F30"/>
                    </a:solidFill>
                  </a:tcPr>
                </a:tc>
              </a:tr>
              <a:tr h="619125">
                <a:tc>
                  <a:txBody>
                    <a:bodyPr>
                      <a:noAutofit/>
                    </a:bodyPr>
                    <a:lstStyle/>
                    <a:p>
                      <a:r>
                        <a:rPr sz="2100" b="0">
                          <a:solidFill>
                            <a:srgbClr val="101F30"/>
                          </a:solidFill>
                          <a:latin typeface="Arial"/>
                          <a:ea typeface="Arial"/>
                          <a:cs typeface="Arial"/>
                        </a:rPr>
                        <a:t>Entrenamiento</a:t>
                      </a:r>
                    </a:p>
                  </a:txBody>
                  <a:tcPr marL="91440" marR="91440" marT="45720" marB="45720">
                    <a:solidFill>
                      <a:srgbClr val="F5F3EE"/>
                    </a:solidFill>
                  </a:tcPr>
                </a:tc>
                <a:tc>
                  <a:txBody>
                    <a:bodyPr>
                      <a:noAutofit/>
                    </a:bodyPr>
                    <a:lstStyle/>
                    <a:p>
                      <a:r>
                        <a:rPr sz="2100" b="0">
                          <a:solidFill>
                            <a:srgbClr val="101F30"/>
                          </a:solidFill>
                          <a:latin typeface="Arial"/>
                          <a:ea typeface="Arial"/>
                          <a:cs typeface="Arial"/>
                        </a:rPr>
                        <a:t>1 268</a:t>
                      </a:r>
                    </a:p>
                  </a:txBody>
                  <a:tcPr marL="91440" marR="91440" marT="45720" marB="45720">
                    <a:solidFill>
                      <a:srgbClr val="F5F3EE"/>
                    </a:solidFill>
                  </a:tcPr>
                </a:tc>
                <a:tc>
                  <a:txBody>
                    <a:bodyPr>
                      <a:noAutofit/>
                    </a:bodyPr>
                    <a:lstStyle/>
                    <a:p>
                      <a:r>
                        <a:rPr sz="2100" b="0">
                          <a:solidFill>
                            <a:srgbClr val="101F30"/>
                          </a:solidFill>
                          <a:latin typeface="Arial"/>
                          <a:ea typeface="Arial"/>
                          <a:cs typeface="Arial"/>
                        </a:rPr>
                        <a:t>100 000</a:t>
                      </a:r>
                    </a:p>
                  </a:txBody>
                  <a:tcPr marL="91440" marR="91440" marT="45720" marB="45720">
                    <a:solidFill>
                      <a:srgbClr val="F5F3EE"/>
                    </a:solidFill>
                  </a:tcPr>
                </a:tc>
              </a:tr>
              <a:tr h="619125">
                <a:tc>
                  <a:txBody>
                    <a:bodyPr>
                      <a:noAutofit/>
                    </a:bodyPr>
                    <a:lstStyle/>
                    <a:p>
                      <a:r>
                        <a:rPr sz="2100" b="0">
                          <a:solidFill>
                            <a:srgbClr val="101F30"/>
                          </a:solidFill>
                          <a:latin typeface="Arial"/>
                          <a:ea typeface="Arial"/>
                          <a:cs typeface="Arial"/>
                        </a:rPr>
                        <a:t>Validación</a:t>
                      </a:r>
                    </a:p>
                  </a:txBody>
                  <a:tcPr marL="91440" marR="91440" marT="45720" marB="45720">
                    <a:solidFill>
                      <a:srgbClr val="E8EDEC"/>
                    </a:solidFill>
                  </a:tcPr>
                </a:tc>
                <a:tc>
                  <a:txBody>
                    <a:bodyPr>
                      <a:noAutofit/>
                    </a:bodyPr>
                    <a:lstStyle/>
                    <a:p>
                      <a:r>
                        <a:rPr sz="2100" b="0">
                          <a:solidFill>
                            <a:srgbClr val="101F30"/>
                          </a:solidFill>
                          <a:latin typeface="Arial"/>
                          <a:ea typeface="Arial"/>
                          <a:cs typeface="Arial"/>
                        </a:rPr>
                        <a:t>173</a:t>
                      </a:r>
                    </a:p>
                  </a:txBody>
                  <a:tcPr marL="91440" marR="91440" marT="45720" marB="45720">
                    <a:solidFill>
                      <a:srgbClr val="E8EDEC"/>
                    </a:solidFill>
                  </a:tcPr>
                </a:tc>
                <a:tc>
                  <a:txBody>
                    <a:bodyPr>
                      <a:noAutofit/>
                    </a:bodyPr>
                    <a:lstStyle/>
                    <a:p>
                      <a:r>
                        <a:rPr sz="2100" b="0">
                          <a:solidFill>
                            <a:srgbClr val="101F30"/>
                          </a:solidFill>
                          <a:latin typeface="Arial"/>
                          <a:ea typeface="Arial"/>
                          <a:cs typeface="Arial"/>
                        </a:rPr>
                        <a:t>52 695</a:t>
                      </a:r>
                    </a:p>
                  </a:txBody>
                  <a:tcPr marL="91440" marR="91440" marT="45720" marB="45720">
                    <a:solidFill>
                      <a:srgbClr val="E8EDEC"/>
                    </a:solidFill>
                  </a:tcPr>
                </a:tc>
              </a:tr>
              <a:tr h="619125">
                <a:tc>
                  <a:txBody>
                    <a:bodyPr>
                      <a:noAutofit/>
                    </a:bodyPr>
                    <a:lstStyle/>
                    <a:p>
                      <a:r>
                        <a:rPr sz="2100" b="0">
                          <a:solidFill>
                            <a:srgbClr val="101F30"/>
                          </a:solidFill>
                          <a:latin typeface="Arial"/>
                          <a:ea typeface="Arial"/>
                          <a:cs typeface="Arial"/>
                        </a:rPr>
                        <a:t>Prueba</a:t>
                      </a:r>
                    </a:p>
                  </a:txBody>
                  <a:tcPr marL="91440" marR="91440" marT="45720" marB="45720">
                    <a:solidFill>
                      <a:srgbClr val="F5F3EE"/>
                    </a:solidFill>
                  </a:tcPr>
                </a:tc>
                <a:tc>
                  <a:txBody>
                    <a:bodyPr>
                      <a:noAutofit/>
                    </a:bodyPr>
                    <a:lstStyle/>
                    <a:p>
                      <a:r>
                        <a:rPr sz="2100" b="0">
                          <a:solidFill>
                            <a:srgbClr val="101F30"/>
                          </a:solidFill>
                          <a:latin typeface="Arial"/>
                          <a:ea typeface="Arial"/>
                          <a:cs typeface="Arial"/>
                        </a:rPr>
                        <a:t>194</a:t>
                      </a:r>
                    </a:p>
                  </a:txBody>
                  <a:tcPr marL="91440" marR="91440" marT="45720" marB="45720">
                    <a:solidFill>
                      <a:srgbClr val="F5F3EE"/>
                    </a:solidFill>
                  </a:tcPr>
                </a:tc>
                <a:tc>
                  <a:txBody>
                    <a:bodyPr>
                      <a:noAutofit/>
                    </a:bodyPr>
                    <a:lstStyle/>
                    <a:p>
                      <a:r>
                        <a:rPr sz="2100" b="0">
                          <a:solidFill>
                            <a:srgbClr val="101F30"/>
                          </a:solidFill>
                          <a:latin typeface="Arial"/>
                          <a:ea typeface="Arial"/>
                          <a:cs typeface="Arial"/>
                        </a:rPr>
                        <a:t>56 796</a:t>
                      </a:r>
                    </a:p>
                  </a:txBody>
                  <a:tcPr marL="91440" marR="91440" marT="45720" marB="45720">
                    <a:solidFill>
                      <a:srgbClr val="F5F3EE"/>
                    </a:solidFill>
                  </a:tcPr>
                </a:tc>
              </a:tr>
            </a:tbl>
          </a:graphicData>
        </a:graphic>
      </p:graphicFrame>
      <p:sp>
        <p:nvSpPr>
          <p:cNvPr id="4" name="3 000">
            <a:extLst xmlns:a="http://schemas.openxmlformats.org/drawingml/2006/main">
              <a:ext uri="{FF2B5EF4-FFF2-40B4-BE49-F238E27FC236}">
                <a16:creationId xmlns:a16="http://schemas.microsoft.com/office/drawing/2014/main" id="{3AB283CF-1ADD-4788-94B6-CBD7D69E97CC}"/>
              </a:ext>
            </a:extLst>
          </p:cNvPr>
          <p:cNvSpPr>
            <a:spLocks xmlns:a="http://schemas.openxmlformats.org/drawingml/2006/main" noGrp="1"/>
          </p:cNvSpPr>
          <p:nvPr/>
        </p:nvSpPr>
        <p:spPr>
          <a:xfrm xmlns:a="http://schemas.openxmlformats.org/drawingml/2006/main">
            <a:off x="609600" y="461010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007D82"/>
                </a:solidFill>
                <a:latin typeface="Arial"/>
                <a:ea typeface="Arial"/>
                <a:cs typeface="Arial"/>
              </a:defRPr>
            </a:pPr>
            <a:r>
              <a:rPr sz="4575" b="1">
                <a:solidFill>
                  <a:srgbClr val="007D82"/>
                </a:solidFill>
                <a:latin typeface="Arial"/>
                <a:ea typeface="Arial"/>
                <a:cs typeface="Arial"/>
              </a:rPr>
              <a:t>3 000</a:t>
            </a:r>
          </a:p>
        </p:txBody>
      </p:sp>
      <p:sp>
        <p:nvSpPr>
          <p:cNvPr id="5" name="entradas del vocabulario">
            <a:extLst xmlns:a="http://schemas.openxmlformats.org/drawingml/2006/main">
              <a:ext uri="{FF2B5EF4-FFF2-40B4-BE49-F238E27FC236}">
                <a16:creationId xmlns:a16="http://schemas.microsoft.com/office/drawing/2014/main" id="{035E0A93-32F2-4BF9-9C9D-6A2887C0A4D7}"/>
              </a:ext>
            </a:extLst>
          </p:cNvPr>
          <p:cNvSpPr>
            <a:spLocks xmlns:a="http://schemas.openxmlformats.org/drawingml/2006/main" noGrp="1"/>
          </p:cNvSpPr>
          <p:nvPr/>
        </p:nvSpPr>
        <p:spPr>
          <a:xfrm xmlns:a="http://schemas.openxmlformats.org/drawingml/2006/main">
            <a:off x="609600" y="53721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1F30"/>
                </a:solidFill>
                <a:latin typeface="Arial"/>
                <a:ea typeface="Arial"/>
                <a:cs typeface="Arial"/>
              </a:defRPr>
            </a:pPr>
            <a:r>
              <a:rPr sz="1875" b="0">
                <a:solidFill>
                  <a:srgbClr val="101F30"/>
                </a:solidFill>
                <a:latin typeface="Arial"/>
                <a:ea typeface="Arial"/>
                <a:cs typeface="Arial"/>
              </a:rPr>
              <a:t>entradas del vocabulario</a:t>
            </a:r>
          </a:p>
        </p:txBody>
      </p:sp>
      <p:sp>
        <p:nvSpPr>
          <p:cNvPr id="6" name="Minúsculas y tildes conservadas&#10;Números normalizados y ">
            <a:extLst xmlns:a="http://schemas.openxmlformats.org/drawingml/2006/main">
              <a:ext uri="{FF2B5EF4-FFF2-40B4-BE49-F238E27FC236}">
                <a16:creationId xmlns:a16="http://schemas.microsoft.com/office/drawing/2014/main" id="{43ED9F53-9E05-4E39-8549-C671E896CDC3}"/>
              </a:ext>
            </a:extLst>
          </p:cNvPr>
          <p:cNvSpPr>
            <a:spLocks xmlns:a="http://schemas.openxmlformats.org/drawingml/2006/main" noGrp="1"/>
          </p:cNvSpPr>
          <p:nvPr/>
        </p:nvSpPr>
        <p:spPr>
          <a:xfrm xmlns:a="http://schemas.openxmlformats.org/drawingml/2006/main">
            <a:off x="5000625" y="4648200"/>
            <a:ext cx="647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F30"/>
                </a:solidFill>
                <a:latin typeface="Arial"/>
                <a:ea typeface="Arial"/>
                <a:cs typeface="Arial"/>
              </a:defRPr>
            </a:pPr>
            <a:r>
              <a:rPr sz="2025" b="0">
                <a:solidFill>
                  <a:srgbClr val="101F30"/>
                </a:solidFill>
                <a:latin typeface="Arial"/>
                <a:ea typeface="Arial"/>
                <a:cs typeface="Arial"/>
              </a:rPr>
              <a:t>Minúsculas y tildes conservadas</a:t>
            </a:r>
          </a:p>
          <a:p xmlns:a="http://schemas.openxmlformats.org/drawingml/2006/main">
            <a:pPr>
              <a:defRPr sz="2025" b="0">
                <a:solidFill>
                  <a:srgbClr val="101F30"/>
                </a:solidFill>
                <a:latin typeface="Arial"/>
                <a:ea typeface="Arial"/>
                <a:cs typeface="Arial"/>
              </a:defRPr>
            </a:pPr>
            <a:r>
              <a:rPr sz="2025" b="0">
                <a:solidFill>
                  <a:srgbClr val="101F30"/>
                </a:solidFill>
                <a:latin typeface="Arial"/>
                <a:ea typeface="Arial"/>
                <a:cs typeface="Arial"/>
              </a:rPr>
              <a:t>Números normalizados y puntuación omitida</a:t>
            </a:r>
          </a:p>
          <a:p xmlns:a="http://schemas.openxmlformats.org/drawingml/2006/main">
            <a:pPr>
              <a:defRPr sz="2025" b="0">
                <a:solidFill>
                  <a:srgbClr val="101F30"/>
                </a:solidFill>
                <a:latin typeface="Arial"/>
                <a:ea typeface="Arial"/>
                <a:cs typeface="Arial"/>
              </a:defRPr>
            </a:pPr>
            <a:r>
              <a:rPr sz="2025" b="0">
                <a:solidFill>
                  <a:srgbClr val="101F30"/>
                </a:solidFill>
                <a:latin typeface="Arial"/>
                <a:ea typeface="Arial"/>
                <a:cs typeface="Arial"/>
              </a:rPr>
              <a:t>Documentos distintos en cada partición</a:t>
            </a:r>
          </a:p>
        </p:txBody>
      </p:sp>
      <p:sp>
        <p:nvSpPr>
          <p:cNvPr id="7" name="Fuente: UD Spanish-AnCora r2.17. Particiones propias. L">
            <a:extLst xmlns:a="http://schemas.openxmlformats.org/drawingml/2006/main">
              <a:ext uri="{FF2B5EF4-FFF2-40B4-BE49-F238E27FC236}">
                <a16:creationId xmlns:a16="http://schemas.microsoft.com/office/drawing/2014/main" id="{3AC90768-5E22-44F3-82AF-5CCEB3B08959}"/>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16B"/>
                </a:solidFill>
                <a:latin typeface="Arial"/>
                <a:ea typeface="Arial"/>
                <a:cs typeface="Arial"/>
              </a:defRPr>
            </a:pPr>
            <a:r>
              <a:rPr sz="1500" b="0">
                <a:solidFill>
                  <a:srgbClr val="52616B"/>
                </a:solidFill>
                <a:latin typeface="Arial"/>
                <a:ea typeface="Arial"/>
                <a:cs typeface="Arial"/>
              </a:rPr>
              <a:t>Fuente: UD Spanish-AnCora r2.17. Particiones propias. Licencia CC BY 4.0.</a:t>
            </a:r>
          </a:p>
        </p:txBody>
      </p:sp>
    </p:spTree>
    <p:extLst>
      <p:ext uri="{BB962C8B-B14F-4D97-AF65-F5344CB8AC3E}">
        <p14:creationId xmlns:p14="http://schemas.microsoft.com/office/powerpoint/2010/main" val="1579335947"/>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8" name="Código: recorrido de una entrada">
            <a:extLst xmlns:a="http://schemas.openxmlformats.org/drawingml/2006/main">
              <a:ext uri="{FF2B5EF4-FFF2-40B4-BE49-F238E27FC236}">
                <a16:creationId xmlns:a16="http://schemas.microsoft.com/office/drawing/2014/main" id="{57ECAC05-D338-431E-8394-9589DB9DE5AC}"/>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Código: recorrido de una entrada</a:t>
            </a:r>
          </a:p>
        </p:txBody>
      </p:sp>
      <p:sp>
        <p:nvSpPr>
          <p:cNvPr id="2" name="06 / 12">
            <a:extLst xmlns:a="http://schemas.openxmlformats.org/drawingml/2006/main">
              <a:ext uri="{FF2B5EF4-FFF2-40B4-BE49-F238E27FC236}">
                <a16:creationId xmlns:a16="http://schemas.microsoft.com/office/drawing/2014/main" id="{5439F0D6-48C8-481F-8CBF-F96FE243DE6D}"/>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06 / 12</a:t>
            </a:r>
          </a:p>
        </p:txBody>
      </p:sp>
      <p:sp>
        <p:nvSpPr>
          <p:cNvPr id="3" name="[2, 5, 46, 11, 42]">
            <a:extLst xmlns:a="http://schemas.openxmlformats.org/drawingml/2006/main">
              <a:ext uri="{FF2B5EF4-FFF2-40B4-BE49-F238E27FC236}">
                <a16:creationId xmlns:a16="http://schemas.microsoft.com/office/drawing/2014/main" id="{88EB0D78-A588-47F5-82BF-16DB5E1D7368}"/>
              </a:ext>
            </a:extLst>
          </p:cNvPr>
          <p:cNvSpPr>
            <a:spLocks xmlns:a="http://schemas.openxmlformats.org/drawingml/2006/main" noGrp="1"/>
          </p:cNvSpPr>
          <p:nvPr/>
        </p:nvSpPr>
        <p:spPr>
          <a:xfrm xmlns:a="http://schemas.openxmlformats.org/drawingml/2006/main">
            <a:off x="609600" y="1762125"/>
            <a:ext cx="638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7D82"/>
                </a:solidFill>
                <a:latin typeface="Arial"/>
                <a:ea typeface="Arial"/>
                <a:cs typeface="Arial"/>
              </a:defRPr>
            </a:pPr>
            <a:r>
              <a:rPr sz="3600" b="1">
                <a:solidFill>
                  <a:srgbClr val="007D82"/>
                </a:solidFill>
                <a:latin typeface="Arial"/>
                <a:ea typeface="Arial"/>
                <a:cs typeface="Arial"/>
              </a:rPr>
              <a:t>[2, 5, 46, 11, 42]</a:t>
            </a:r>
          </a:p>
        </p:txBody>
      </p:sp>
      <p:sp>
        <p:nvSpPr>
          <p:cNvPr id="4" name="BOS, el, presidente, del, gobierno">
            <a:extLst xmlns:a="http://schemas.openxmlformats.org/drawingml/2006/main">
              <a:ext uri="{FF2B5EF4-FFF2-40B4-BE49-F238E27FC236}">
                <a16:creationId xmlns:a16="http://schemas.microsoft.com/office/drawing/2014/main" id="{0277257C-EB27-416D-BA41-5A4956EE4848}"/>
              </a:ext>
            </a:extLst>
          </p:cNvPr>
          <p:cNvSpPr>
            <a:spLocks xmlns:a="http://schemas.openxmlformats.org/drawingml/2006/main" noGrp="1"/>
          </p:cNvSpPr>
          <p:nvPr/>
        </p:nvSpPr>
        <p:spPr>
          <a:xfrm xmlns:a="http://schemas.openxmlformats.org/drawingml/2006/main">
            <a:off x="609600" y="24765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1F30"/>
                </a:solidFill>
                <a:latin typeface="Arial"/>
                <a:ea typeface="Arial"/>
                <a:cs typeface="Arial"/>
              </a:defRPr>
            </a:pPr>
            <a:r>
              <a:rPr sz="1950" b="0">
                <a:solidFill>
                  <a:srgbClr val="101F30"/>
                </a:solidFill>
                <a:latin typeface="Arial"/>
                <a:ea typeface="Arial"/>
                <a:cs typeface="Arial"/>
              </a:rPr>
              <a:t>BOS, el, presidente, del, gobierno</a:t>
            </a:r>
          </a:p>
        </p:txBody>
      </p:sp>
      <p:graphicFrame>
        <p:nvGraphicFramePr>
          <p:cNvPr id="12" name=""/>
          <p:cNvGraphicFramePr/>
          <p:nvPr/>
        </p:nvGraphicFramePr>
        <p:xfrm>
          <a:off xmlns:a="http://schemas.openxmlformats.org/drawingml/2006/main" x="609600" y="3219450"/>
          <a:ext xmlns:a="http://schemas.openxmlformats.org/drawingml/2006/main" cx="6667500" cy="2628900"/>
        </p:xfrm>
        <a:graphic xmlns:a="http://schemas.openxmlformats.org/drawingml/2006/main">
          <a:graphicData uri="http://schemas.openxmlformats.org/drawingml/2006/table">
            <a:tbl>
              <a:tblPr/>
              <a:tblGrid>
                <a:gridCol w="2952750"/>
                <a:gridCol w="3714750"/>
              </a:tblGrid>
              <a:tr h="525780">
                <a:tc>
                  <a:txBody>
                    <a:bodyPr>
                      <a:noAutofit/>
                    </a:bodyPr>
                    <a:lstStyle/>
                    <a:p>
                      <a:r>
                        <a:rPr sz="1875" b="1">
                          <a:solidFill>
                            <a:srgbClr val="FFFFFF"/>
                          </a:solidFill>
                          <a:latin typeface="Arial"/>
                          <a:ea typeface="Arial"/>
                          <a:cs typeface="Arial"/>
                        </a:rPr>
                        <a:t>Etapa</a:t>
                      </a:r>
                    </a:p>
                  </a:txBody>
                  <a:tcPr marL="91440" marR="91440" marT="45720" marB="45720">
                    <a:solidFill>
                      <a:srgbClr val="101F30"/>
                    </a:solidFill>
                  </a:tcPr>
                </a:tc>
                <a:tc>
                  <a:txBody>
                    <a:bodyPr>
                      <a:noAutofit/>
                    </a:bodyPr>
                    <a:lstStyle/>
                    <a:p>
                      <a:r>
                        <a:rPr sz="1875" b="1">
                          <a:solidFill>
                            <a:srgbClr val="FFFFFF"/>
                          </a:solidFill>
                          <a:latin typeface="Arial"/>
                          <a:ea typeface="Arial"/>
                          <a:cs typeface="Arial"/>
                        </a:rPr>
                        <a:t>Salida</a:t>
                      </a:r>
                    </a:p>
                  </a:txBody>
                  <a:tcPr marL="91440" marR="91440" marT="45720" marB="45720">
                    <a:solidFill>
                      <a:srgbClr val="101F30"/>
                    </a:solidFill>
                  </a:tcPr>
                </a:tc>
              </a:tr>
              <a:tr h="525780">
                <a:tc>
                  <a:txBody>
                    <a:bodyPr>
                      <a:noAutofit/>
                    </a:bodyPr>
                    <a:lstStyle/>
                    <a:p>
                      <a:r>
                        <a:rPr sz="1875" b="0">
                          <a:solidFill>
                            <a:srgbClr val="101F30"/>
                          </a:solidFill>
                          <a:latin typeface="Arial"/>
                          <a:ea typeface="Arial"/>
                          <a:cs typeface="Arial"/>
                        </a:rPr>
                        <a:t>Embedding</a:t>
                      </a:r>
                    </a:p>
                  </a:txBody>
                  <a:tcPr marL="91440" marR="91440" marT="45720" marB="45720">
                    <a:solidFill>
                      <a:srgbClr val="F5F3EE"/>
                    </a:solidFill>
                  </a:tcPr>
                </a:tc>
                <a:tc>
                  <a:txBody>
                    <a:bodyPr>
                      <a:noAutofit/>
                    </a:bodyPr>
                    <a:lstStyle/>
                    <a:p>
                      <a:r>
                        <a:rPr sz="1875" b="0">
                          <a:solidFill>
                            <a:srgbClr val="101F30"/>
                          </a:solidFill>
                          <a:latin typeface="Arial"/>
                          <a:ea typeface="Arial"/>
                          <a:cs typeface="Arial"/>
                        </a:rPr>
                        <a:t>48 valores por entrada</a:t>
                      </a:r>
                    </a:p>
                  </a:txBody>
                  <a:tcPr marL="91440" marR="91440" marT="45720" marB="45720">
                    <a:solidFill>
                      <a:srgbClr val="F5F3EE"/>
                    </a:solidFill>
                  </a:tcPr>
                </a:tc>
              </a:tr>
              <a:tr h="525780">
                <a:tc>
                  <a:txBody>
                    <a:bodyPr>
                      <a:noAutofit/>
                    </a:bodyPr>
                    <a:lstStyle/>
                    <a:p>
                      <a:r>
                        <a:rPr sz="1875" b="0">
                          <a:solidFill>
                            <a:srgbClr val="101F30"/>
                          </a:solidFill>
                          <a:latin typeface="Arial"/>
                          <a:ea typeface="Arial"/>
                          <a:cs typeface="Arial"/>
                        </a:rPr>
                        <a:t>RNN o LSTM</a:t>
                      </a:r>
                    </a:p>
                  </a:txBody>
                  <a:tcPr marL="91440" marR="91440" marT="45720" marB="45720">
                    <a:solidFill>
                      <a:srgbClr val="E8EDEC"/>
                    </a:solidFill>
                  </a:tcPr>
                </a:tc>
                <a:tc>
                  <a:txBody>
                    <a:bodyPr>
                      <a:noAutofit/>
                    </a:bodyPr>
                    <a:lstStyle/>
                    <a:p>
                      <a:r>
                        <a:rPr sz="1875" b="0">
                          <a:solidFill>
                            <a:srgbClr val="101F30"/>
                          </a:solidFill>
                          <a:latin typeface="Arial"/>
                          <a:ea typeface="Arial"/>
                          <a:cs typeface="Arial"/>
                        </a:rPr>
                        <a:t>64 valores por estado</a:t>
                      </a:r>
                    </a:p>
                  </a:txBody>
                  <a:tcPr marL="91440" marR="91440" marT="45720" marB="45720">
                    <a:solidFill>
                      <a:srgbClr val="E8EDEC"/>
                    </a:solidFill>
                  </a:tcPr>
                </a:tc>
              </a:tr>
              <a:tr h="525780">
                <a:tc>
                  <a:txBody>
                    <a:bodyPr>
                      <a:noAutofit/>
                    </a:bodyPr>
                    <a:lstStyle/>
                    <a:p>
                      <a:r>
                        <a:rPr sz="1875" b="0">
                          <a:solidFill>
                            <a:srgbClr val="101F30"/>
                          </a:solidFill>
                          <a:latin typeface="Arial"/>
                          <a:ea typeface="Arial"/>
                          <a:cs typeface="Arial"/>
                        </a:rPr>
                        <a:t>Capa de salida</a:t>
                      </a:r>
                    </a:p>
                  </a:txBody>
                  <a:tcPr marL="91440" marR="91440" marT="45720" marB="45720">
                    <a:solidFill>
                      <a:srgbClr val="F5F3EE"/>
                    </a:solidFill>
                  </a:tcPr>
                </a:tc>
                <a:tc>
                  <a:txBody>
                    <a:bodyPr>
                      <a:noAutofit/>
                    </a:bodyPr>
                    <a:lstStyle/>
                    <a:p>
                      <a:r>
                        <a:rPr sz="1875" b="0">
                          <a:solidFill>
                            <a:srgbClr val="101F30"/>
                          </a:solidFill>
                          <a:latin typeface="Arial"/>
                          <a:ea typeface="Arial"/>
                          <a:cs typeface="Arial"/>
                        </a:rPr>
                        <a:t>3 000 puntuaciones</a:t>
                      </a:r>
                    </a:p>
                  </a:txBody>
                  <a:tcPr marL="91440" marR="91440" marT="45720" marB="45720">
                    <a:solidFill>
                      <a:srgbClr val="F5F3EE"/>
                    </a:solidFill>
                  </a:tcPr>
                </a:tc>
              </a:tr>
              <a:tr h="525780">
                <a:tc>
                  <a:txBody>
                    <a:bodyPr>
                      <a:noAutofit/>
                    </a:bodyPr>
                    <a:lstStyle/>
                    <a:p>
                      <a:r>
                        <a:rPr sz="1875" b="0">
                          <a:solidFill>
                            <a:srgbClr val="101F30"/>
                          </a:solidFill>
                          <a:latin typeface="Arial"/>
                          <a:ea typeface="Arial"/>
                          <a:cs typeface="Arial"/>
                        </a:rPr>
                        <a:t>Softmax</a:t>
                      </a:r>
                    </a:p>
                  </a:txBody>
                  <a:tcPr marL="91440" marR="91440" marT="45720" marB="45720">
                    <a:solidFill>
                      <a:srgbClr val="E8EDEC"/>
                    </a:solidFill>
                  </a:tcPr>
                </a:tc>
                <a:tc>
                  <a:txBody>
                    <a:bodyPr>
                      <a:noAutofit/>
                    </a:bodyPr>
                    <a:lstStyle/>
                    <a:p>
                      <a:r>
                        <a:rPr sz="1875" b="0">
                          <a:solidFill>
                            <a:srgbClr val="101F30"/>
                          </a:solidFill>
                          <a:latin typeface="Arial"/>
                          <a:ea typeface="Arial"/>
                          <a:cs typeface="Arial"/>
                        </a:rPr>
                        <a:t>Probabilidades por palabra</a:t>
                      </a:r>
                    </a:p>
                  </a:txBody>
                  <a:tcPr marL="91440" marR="91440" marT="45720" marB="45720">
                    <a:solidFill>
                      <a:srgbClr val="E8EDEC"/>
                    </a:solidFill>
                  </a:tcPr>
                </a:tc>
              </a:tr>
            </a:tbl>
          </a:graphicData>
        </a:graphic>
      </p:graphicFrame>
      <p:sp>
        <p:nvSpPr>
          <p:cNvPr id="6" name="Bibliotecas">
            <a:extLst xmlns:a="http://schemas.openxmlformats.org/drawingml/2006/main">
              <a:ext uri="{FF2B5EF4-FFF2-40B4-BE49-F238E27FC236}">
                <a16:creationId xmlns:a16="http://schemas.microsoft.com/office/drawing/2014/main" id="{6B6630D0-615C-4288-A9B4-9F7D47B3E6C7}"/>
              </a:ext>
            </a:extLst>
          </p:cNvPr>
          <p:cNvSpPr>
            <a:spLocks xmlns:a="http://schemas.openxmlformats.org/drawingml/2006/main" noGrp="1"/>
          </p:cNvSpPr>
          <p:nvPr/>
        </p:nvSpPr>
        <p:spPr>
          <a:xfrm xmlns:a="http://schemas.openxmlformats.org/drawingml/2006/main">
            <a:off x="7810500" y="1781175"/>
            <a:ext cx="371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1F30"/>
                </a:solidFill>
                <a:latin typeface="Arial"/>
                <a:ea typeface="Arial"/>
                <a:cs typeface="Arial"/>
              </a:defRPr>
            </a:pPr>
            <a:r>
              <a:rPr sz="2325" b="1">
                <a:solidFill>
                  <a:srgbClr val="101F30"/>
                </a:solidFill>
                <a:latin typeface="Arial"/>
                <a:ea typeface="Arial"/>
                <a:cs typeface="Arial"/>
              </a:rPr>
              <a:t>Bibliotecas</a:t>
            </a:r>
          </a:p>
        </p:txBody>
      </p:sp>
      <p:sp>
        <p:nvSpPr>
          <p:cNvPr id="7" name="PyTorch&#10;Modelos y entrenamiento&#10;&#10;NumPy&#10;Matrices y muest">
            <a:extLst xmlns:a="http://schemas.openxmlformats.org/drawingml/2006/main">
              <a:ext uri="{FF2B5EF4-FFF2-40B4-BE49-F238E27FC236}">
                <a16:creationId xmlns:a16="http://schemas.microsoft.com/office/drawing/2014/main" id="{65AC3C3E-6CE2-422A-A871-17A0EC5416AD}"/>
              </a:ext>
            </a:extLst>
          </p:cNvPr>
          <p:cNvSpPr>
            <a:spLocks xmlns:a="http://schemas.openxmlformats.org/drawingml/2006/main" noGrp="1"/>
          </p:cNvSpPr>
          <p:nvPr/>
        </p:nvSpPr>
        <p:spPr>
          <a:xfrm xmlns:a="http://schemas.openxmlformats.org/drawingml/2006/main">
            <a:off x="7810500" y="2381250"/>
            <a:ext cx="3714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1F30"/>
                </a:solidFill>
                <a:latin typeface="Arial"/>
                <a:ea typeface="Arial"/>
                <a:cs typeface="Arial"/>
              </a:defRPr>
            </a:pPr>
            <a:r>
              <a:rPr sz="1875" b="0">
                <a:solidFill>
                  <a:srgbClr val="101F30"/>
                </a:solidFill>
                <a:latin typeface="Arial"/>
                <a:ea typeface="Arial"/>
                <a:cs typeface="Arial"/>
              </a:rPr>
              <a:t>PyTorch</a:t>
            </a:r>
          </a:p>
          <a:p xmlns:a="http://schemas.openxmlformats.org/drawingml/2006/main">
            <a:pPr>
              <a:defRPr sz="1875" b="0">
                <a:solidFill>
                  <a:srgbClr val="101F30"/>
                </a:solidFill>
                <a:latin typeface="Arial"/>
                <a:ea typeface="Arial"/>
                <a:cs typeface="Arial"/>
              </a:defRPr>
            </a:pPr>
            <a:r>
              <a:rPr sz="1875" b="0">
                <a:solidFill>
                  <a:srgbClr val="101F30"/>
                </a:solidFill>
                <a:latin typeface="Arial"/>
                <a:ea typeface="Arial"/>
                <a:cs typeface="Arial"/>
              </a:rPr>
              <a:t>Modelos y entrenamiento</a:t>
            </a:r>
          </a:p>
          <a:p xmlns:a="http://schemas.openxmlformats.org/drawingml/2006/main">
            <a:r>
              <a:t/>
            </a:r>
          </a:p>
          <a:p xmlns:a="http://schemas.openxmlformats.org/drawingml/2006/main">
            <a:pPr>
              <a:defRPr sz="1875" b="0">
                <a:solidFill>
                  <a:srgbClr val="101F30"/>
                </a:solidFill>
                <a:latin typeface="Arial"/>
                <a:ea typeface="Arial"/>
                <a:cs typeface="Arial"/>
              </a:defRPr>
            </a:pPr>
            <a:r>
              <a:rPr sz="1875" b="0">
                <a:solidFill>
                  <a:srgbClr val="101F30"/>
                </a:solidFill>
                <a:latin typeface="Arial"/>
                <a:ea typeface="Arial"/>
                <a:cs typeface="Arial"/>
              </a:rPr>
              <a:t>NumPy</a:t>
            </a:r>
          </a:p>
          <a:p xmlns:a="http://schemas.openxmlformats.org/drawingml/2006/main">
            <a:pPr>
              <a:defRPr sz="1875" b="0">
                <a:solidFill>
                  <a:srgbClr val="101F30"/>
                </a:solidFill>
                <a:latin typeface="Arial"/>
                <a:ea typeface="Arial"/>
                <a:cs typeface="Arial"/>
              </a:defRPr>
            </a:pPr>
            <a:r>
              <a:rPr sz="1875" b="0">
                <a:solidFill>
                  <a:srgbClr val="101F30"/>
                </a:solidFill>
                <a:latin typeface="Arial"/>
                <a:ea typeface="Arial"/>
                <a:cs typeface="Arial"/>
              </a:rPr>
              <a:t>Matrices y muestreo</a:t>
            </a:r>
          </a:p>
          <a:p xmlns:a="http://schemas.openxmlformats.org/drawingml/2006/main">
            <a:r>
              <a:t/>
            </a:r>
          </a:p>
          <a:p xmlns:a="http://schemas.openxmlformats.org/drawingml/2006/main">
            <a:pPr>
              <a:defRPr sz="1875" b="0">
                <a:solidFill>
                  <a:srgbClr val="101F30"/>
                </a:solidFill>
                <a:latin typeface="Arial"/>
                <a:ea typeface="Arial"/>
                <a:cs typeface="Arial"/>
              </a:defRPr>
            </a:pPr>
            <a:r>
              <a:rPr sz="1875" b="0">
                <a:solidFill>
                  <a:srgbClr val="101F30"/>
                </a:solidFill>
                <a:latin typeface="Arial"/>
                <a:ea typeface="Arial"/>
                <a:cs typeface="Arial"/>
              </a:rPr>
              <a:t>Matplotlib</a:t>
            </a:r>
          </a:p>
          <a:p xmlns:a="http://schemas.openxmlformats.org/drawingml/2006/main">
            <a:pPr>
              <a:defRPr sz="1875" b="0">
                <a:solidFill>
                  <a:srgbClr val="101F30"/>
                </a:solidFill>
                <a:latin typeface="Arial"/>
                <a:ea typeface="Arial"/>
                <a:cs typeface="Arial"/>
              </a:defRPr>
            </a:pPr>
            <a:r>
              <a:rPr sz="1875" b="0">
                <a:solidFill>
                  <a:srgbClr val="101F30"/>
                </a:solidFill>
                <a:latin typeface="Arial"/>
                <a:ea typeface="Arial"/>
                <a:cs typeface="Arial"/>
              </a:rPr>
              <a:t>Gráficas de resultados</a:t>
            </a:r>
          </a:p>
        </p:txBody>
      </p:sp>
    </p:spTree>
    <p:extLst>
      <p:ext uri="{BB962C8B-B14F-4D97-AF65-F5344CB8AC3E}">
        <p14:creationId xmlns:p14="http://schemas.microsoft.com/office/powerpoint/2010/main" val="384296529"/>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6" name="Comparación bajo un mismo protocolo">
            <a:extLst xmlns:a="http://schemas.openxmlformats.org/drawingml/2006/main">
              <a:ext uri="{FF2B5EF4-FFF2-40B4-BE49-F238E27FC236}">
                <a16:creationId xmlns:a16="http://schemas.microsoft.com/office/drawing/2014/main" id="{51866409-7C8B-447B-BD8B-202630921BF2}"/>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Comparación bajo un mismo protocolo</a:t>
            </a:r>
          </a:p>
        </p:txBody>
      </p:sp>
      <p:sp>
        <p:nvSpPr>
          <p:cNvPr id="2" name="07 / 12">
            <a:extLst xmlns:a="http://schemas.openxmlformats.org/drawingml/2006/main">
              <a:ext uri="{FF2B5EF4-FFF2-40B4-BE49-F238E27FC236}">
                <a16:creationId xmlns:a16="http://schemas.microsoft.com/office/drawing/2014/main" id="{9798DA80-D084-43CB-91A1-41C0DB4570B2}"/>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07 / 12</a:t>
            </a:r>
          </a:p>
        </p:txBody>
      </p:sp>
      <p:graphicFrame>
        <p:nvGraphicFramePr>
          <p:cNvPr id="8" name=""/>
          <p:cNvGraphicFramePr/>
          <p:nvPr/>
        </p:nvGraphicFramePr>
        <p:xfrm>
          <a:off xmlns:a="http://schemas.openxmlformats.org/drawingml/2006/main" x="609600" y="1695450"/>
          <a:ext xmlns:a="http://schemas.openxmlformats.org/drawingml/2006/main" cx="10953750" cy="3257550"/>
        </p:xfrm>
        <a:graphic xmlns:a="http://schemas.openxmlformats.org/drawingml/2006/main">
          <a:graphicData uri="http://schemas.openxmlformats.org/drawingml/2006/table">
            <a:tbl>
              <a:tblPr/>
              <a:tblGrid>
                <a:gridCol w="3714750"/>
                <a:gridCol w="7239000"/>
              </a:tblGrid>
              <a:tr h="542925">
                <a:tc>
                  <a:txBody>
                    <a:bodyPr>
                      <a:noAutofit/>
                    </a:bodyPr>
                    <a:lstStyle/>
                    <a:p>
                      <a:r>
                        <a:rPr sz="1950" b="1">
                          <a:solidFill>
                            <a:srgbClr val="FFFFFF"/>
                          </a:solidFill>
                          <a:latin typeface="Arial"/>
                          <a:ea typeface="Arial"/>
                          <a:cs typeface="Arial"/>
                        </a:rPr>
                        <a:t>Configuración</a:t>
                      </a:r>
                    </a:p>
                  </a:txBody>
                  <a:tcPr marL="91440" marR="91440" marT="45720" marB="45720">
                    <a:solidFill>
                      <a:srgbClr val="101F30"/>
                    </a:solidFill>
                  </a:tcPr>
                </a:tc>
                <a:tc>
                  <a:txBody>
                    <a:bodyPr>
                      <a:noAutofit/>
                    </a:bodyPr>
                    <a:lstStyle/>
                    <a:p>
                      <a:r>
                        <a:rPr sz="1950" b="1">
                          <a:solidFill>
                            <a:srgbClr val="FFFFFF"/>
                          </a:solidFill>
                          <a:latin typeface="Arial"/>
                          <a:ea typeface="Arial"/>
                          <a:cs typeface="Arial"/>
                        </a:rPr>
                        <a:t>Comparación principal</a:t>
                      </a:r>
                    </a:p>
                  </a:txBody>
                  <a:tcPr marL="91440" marR="91440" marT="45720" marB="45720">
                    <a:solidFill>
                      <a:srgbClr val="101F30"/>
                    </a:solidFill>
                  </a:tcPr>
                </a:tc>
              </a:tr>
              <a:tr h="542925">
                <a:tc>
                  <a:txBody>
                    <a:bodyPr>
                      <a:noAutofit/>
                    </a:bodyPr>
                    <a:lstStyle/>
                    <a:p>
                      <a:r>
                        <a:rPr sz="1950" b="0">
                          <a:solidFill>
                            <a:srgbClr val="101F30"/>
                          </a:solidFill>
                          <a:latin typeface="Arial"/>
                          <a:ea typeface="Arial"/>
                          <a:cs typeface="Arial"/>
                        </a:rPr>
                        <a:t>Arquitecturas</a:t>
                      </a:r>
                    </a:p>
                  </a:txBody>
                  <a:tcPr marL="91440" marR="91440" marT="45720" marB="45720">
                    <a:solidFill>
                      <a:srgbClr val="F5F3EE"/>
                    </a:solidFill>
                  </a:tcPr>
                </a:tc>
                <a:tc>
                  <a:txBody>
                    <a:bodyPr>
                      <a:noAutofit/>
                    </a:bodyPr>
                    <a:lstStyle/>
                    <a:p>
                      <a:r>
                        <a:rPr sz="1950" b="0">
                          <a:solidFill>
                            <a:srgbClr val="101F30"/>
                          </a:solidFill>
                          <a:latin typeface="Arial"/>
                          <a:ea typeface="Arial"/>
                          <a:cs typeface="Arial"/>
                        </a:rPr>
                        <a:t>RNN y LSTM, frente a un bigrama</a:t>
                      </a:r>
                    </a:p>
                  </a:txBody>
                  <a:tcPr marL="91440" marR="91440" marT="45720" marB="45720">
                    <a:solidFill>
                      <a:srgbClr val="F5F3EE"/>
                    </a:solidFill>
                  </a:tcPr>
                </a:tc>
              </a:tr>
              <a:tr h="542925">
                <a:tc>
                  <a:txBody>
                    <a:bodyPr>
                      <a:noAutofit/>
                    </a:bodyPr>
                    <a:lstStyle/>
                    <a:p>
                      <a:r>
                        <a:rPr sz="1950" b="0">
                          <a:solidFill>
                            <a:srgbClr val="101F30"/>
                          </a:solidFill>
                          <a:latin typeface="Arial"/>
                          <a:ea typeface="Arial"/>
                          <a:cs typeface="Arial"/>
                        </a:rPr>
                        <a:t>Contexto máximo</a:t>
                      </a:r>
                    </a:p>
                  </a:txBody>
                  <a:tcPr marL="91440" marR="91440" marT="45720" marB="45720">
                    <a:solidFill>
                      <a:srgbClr val="E8EDEC"/>
                    </a:solidFill>
                  </a:tcPr>
                </a:tc>
                <a:tc>
                  <a:txBody>
                    <a:bodyPr>
                      <a:noAutofit/>
                    </a:bodyPr>
                    <a:lstStyle/>
                    <a:p>
                      <a:r>
                        <a:rPr sz="1950" b="0">
                          <a:solidFill>
                            <a:srgbClr val="101F30"/>
                          </a:solidFill>
                          <a:latin typeface="Arial"/>
                          <a:ea typeface="Arial"/>
                          <a:cs typeface="Arial"/>
                        </a:rPr>
                        <a:t>12 posiciones anteriores</a:t>
                      </a:r>
                    </a:p>
                  </a:txBody>
                  <a:tcPr marL="91440" marR="91440" marT="45720" marB="45720">
                    <a:solidFill>
                      <a:srgbClr val="E8EDEC"/>
                    </a:solidFill>
                  </a:tcPr>
                </a:tc>
              </a:tr>
              <a:tr h="542925">
                <a:tc>
                  <a:txBody>
                    <a:bodyPr>
                      <a:noAutofit/>
                    </a:bodyPr>
                    <a:lstStyle/>
                    <a:p>
                      <a:r>
                        <a:rPr sz="1950" b="0">
                          <a:solidFill>
                            <a:srgbClr val="101F30"/>
                          </a:solidFill>
                          <a:latin typeface="Arial"/>
                          <a:ea typeface="Arial"/>
                          <a:cs typeface="Arial"/>
                        </a:rPr>
                        <a:t>Repeticiones</a:t>
                      </a:r>
                    </a:p>
                  </a:txBody>
                  <a:tcPr marL="91440" marR="91440" marT="45720" marB="45720">
                    <a:solidFill>
                      <a:srgbClr val="F5F3EE"/>
                    </a:solidFill>
                  </a:tcPr>
                </a:tc>
                <a:tc>
                  <a:txBody>
                    <a:bodyPr>
                      <a:noAutofit/>
                    </a:bodyPr>
                    <a:lstStyle/>
                    <a:p>
                      <a:r>
                        <a:rPr sz="1950" b="0">
                          <a:solidFill>
                            <a:srgbClr val="101F30"/>
                          </a:solidFill>
                          <a:latin typeface="Arial"/>
                          <a:ea typeface="Arial"/>
                          <a:cs typeface="Arial"/>
                        </a:rPr>
                        <a:t>Semillas 17, 29 y 43</a:t>
                      </a:r>
                    </a:p>
                  </a:txBody>
                  <a:tcPr marL="91440" marR="91440" marT="45720" marB="45720">
                    <a:solidFill>
                      <a:srgbClr val="F5F3EE"/>
                    </a:solidFill>
                  </a:tcPr>
                </a:tc>
              </a:tr>
              <a:tr h="542925">
                <a:tc>
                  <a:txBody>
                    <a:bodyPr>
                      <a:noAutofit/>
                    </a:bodyPr>
                    <a:lstStyle/>
                    <a:p>
                      <a:r>
                        <a:rPr sz="1950" b="0">
                          <a:solidFill>
                            <a:srgbClr val="101F30"/>
                          </a:solidFill>
                          <a:latin typeface="Arial"/>
                          <a:ea typeface="Arial"/>
                          <a:cs typeface="Arial"/>
                        </a:rPr>
                        <a:t>Entrenamiento</a:t>
                      </a:r>
                    </a:p>
                  </a:txBody>
                  <a:tcPr marL="91440" marR="91440" marT="45720" marB="45720">
                    <a:solidFill>
                      <a:srgbClr val="E8EDEC"/>
                    </a:solidFill>
                  </a:tcPr>
                </a:tc>
                <a:tc>
                  <a:txBody>
                    <a:bodyPr>
                      <a:noAutofit/>
                    </a:bodyPr>
                    <a:lstStyle/>
                    <a:p>
                      <a:r>
                        <a:rPr sz="1950" b="0">
                          <a:solidFill>
                            <a:srgbClr val="101F30"/>
                          </a:solidFill>
                          <a:latin typeface="Arial"/>
                          <a:ea typeface="Arial"/>
                          <a:cs typeface="Arial"/>
                        </a:rPr>
                        <a:t>5 épocas, lotes de hasta 512</a:t>
                      </a:r>
                    </a:p>
                  </a:txBody>
                  <a:tcPr marL="91440" marR="91440" marT="45720" marB="45720">
                    <a:solidFill>
                      <a:srgbClr val="E8EDEC"/>
                    </a:solidFill>
                  </a:tcPr>
                </a:tc>
              </a:tr>
              <a:tr h="542925">
                <a:tc>
                  <a:txBody>
                    <a:bodyPr>
                      <a:noAutofit/>
                    </a:bodyPr>
                    <a:lstStyle/>
                    <a:p>
                      <a:r>
                        <a:rPr sz="1950" b="0">
                          <a:solidFill>
                            <a:srgbClr val="101F30"/>
                          </a:solidFill>
                          <a:latin typeface="Arial"/>
                          <a:ea typeface="Arial"/>
                          <a:cs typeface="Arial"/>
                        </a:rPr>
                        <a:t>Selección</a:t>
                      </a:r>
                    </a:p>
                  </a:txBody>
                  <a:tcPr marL="91440" marR="91440" marT="45720" marB="45720">
                    <a:solidFill>
                      <a:srgbClr val="F5F3EE"/>
                    </a:solidFill>
                  </a:tcPr>
                </a:tc>
                <a:tc>
                  <a:txBody>
                    <a:bodyPr>
                      <a:noAutofit/>
                    </a:bodyPr>
                    <a:lstStyle/>
                    <a:p>
                      <a:r>
                        <a:rPr sz="1950" b="0">
                          <a:solidFill>
                            <a:srgbClr val="101F30"/>
                          </a:solidFill>
                          <a:latin typeface="Arial"/>
                          <a:ea typeface="Arial"/>
                          <a:cs typeface="Arial"/>
                        </a:rPr>
                        <a:t>Menor pérdida de validación</a:t>
                      </a:r>
                    </a:p>
                  </a:txBody>
                  <a:tcPr marL="91440" marR="91440" marT="45720" marB="45720">
                    <a:solidFill>
                      <a:srgbClr val="F5F3EE"/>
                    </a:solidFill>
                  </a:tcPr>
                </a:tc>
              </a:tr>
            </a:tbl>
          </a:graphicData>
        </a:graphic>
      </p:graphicFrame>
      <p:sp>
        <p:nvSpPr>
          <p:cNvPr id="4" name="Validación selecciona el modelo. Prueba mide el resulta">
            <a:extLst xmlns:a="http://schemas.openxmlformats.org/drawingml/2006/main">
              <a:ext uri="{FF2B5EF4-FFF2-40B4-BE49-F238E27FC236}">
                <a16:creationId xmlns:a16="http://schemas.microsoft.com/office/drawing/2014/main" id="{FFE8E42B-25B7-4373-98AE-7426314F6947}"/>
              </a:ext>
            </a:extLst>
          </p:cNvPr>
          <p:cNvSpPr>
            <a:spLocks xmlns:a="http://schemas.openxmlformats.org/drawingml/2006/main" noGrp="1"/>
          </p:cNvSpPr>
          <p:nvPr/>
        </p:nvSpPr>
        <p:spPr>
          <a:xfrm xmlns:a="http://schemas.openxmlformats.org/drawingml/2006/main">
            <a:off x="609600" y="52959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D82"/>
                </a:solidFill>
                <a:latin typeface="Arial"/>
                <a:ea typeface="Arial"/>
                <a:cs typeface="Arial"/>
              </a:defRPr>
            </a:pPr>
            <a:r>
              <a:rPr sz="2325" b="1">
                <a:solidFill>
                  <a:srgbClr val="007D82"/>
                </a:solidFill>
                <a:latin typeface="Arial"/>
                <a:ea typeface="Arial"/>
                <a:cs typeface="Arial"/>
              </a:rPr>
              <a:t>Validación selecciona el modelo. Prueba mide el resultado final.</a:t>
            </a:r>
          </a:p>
        </p:txBody>
      </p:sp>
      <p:sp>
        <p:nvSpPr>
          <p:cNvPr id="5" name="Exploración adicional: contextos 4 y 24 con una sola se">
            <a:extLst xmlns:a="http://schemas.openxmlformats.org/drawingml/2006/main">
              <a:ext uri="{FF2B5EF4-FFF2-40B4-BE49-F238E27FC236}">
                <a16:creationId xmlns:a16="http://schemas.microsoft.com/office/drawing/2014/main" id="{C0C74B99-1A2B-4CBD-A819-30FFE2D27E1A}"/>
              </a:ext>
            </a:extLst>
          </p:cNvPr>
          <p:cNvSpPr>
            <a:spLocks xmlns:a="http://schemas.openxmlformats.org/drawingml/2006/main" noGrp="1"/>
          </p:cNvSpPr>
          <p:nvPr/>
        </p:nvSpPr>
        <p:spPr>
          <a:xfrm xmlns:a="http://schemas.openxmlformats.org/drawingml/2006/main">
            <a:off x="609600" y="59340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Exploración adicional: contextos 4 y 24 con una sola semilla.</a:t>
            </a:r>
          </a:p>
        </p:txBody>
      </p:sp>
    </p:spTree>
    <p:extLst>
      <p:ext uri="{BB962C8B-B14F-4D97-AF65-F5344CB8AC3E}">
        <p14:creationId xmlns:p14="http://schemas.microsoft.com/office/powerpoint/2010/main" val="1233991681"/>
      </p:ext>
    </p:extLst>
  </p:cSld>
</p:sld>
</file>

<file path=ppt/slides/slide8.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6" name="Qué mide cada resultado">
            <a:extLst xmlns:a="http://schemas.openxmlformats.org/drawingml/2006/main">
              <a:ext uri="{FF2B5EF4-FFF2-40B4-BE49-F238E27FC236}">
                <a16:creationId xmlns:a16="http://schemas.microsoft.com/office/drawing/2014/main" id="{93312C9B-FE7E-4CE4-8353-F0731ABB34DB}"/>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Qué mide cada resultado</a:t>
            </a:r>
          </a:p>
        </p:txBody>
      </p:sp>
      <p:sp>
        <p:nvSpPr>
          <p:cNvPr id="2" name="08 / 12">
            <a:extLst xmlns:a="http://schemas.openxmlformats.org/drawingml/2006/main">
              <a:ext uri="{FF2B5EF4-FFF2-40B4-BE49-F238E27FC236}">
                <a16:creationId xmlns:a16="http://schemas.microsoft.com/office/drawing/2014/main" id="{2B7C185D-AB43-4E76-BCA2-7AE4A8047C31}"/>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08 / 12</a:t>
            </a:r>
          </a:p>
        </p:txBody>
      </p:sp>
      <p:graphicFrame>
        <p:nvGraphicFramePr>
          <p:cNvPr id="8" name=""/>
          <p:cNvGraphicFramePr/>
          <p:nvPr/>
        </p:nvGraphicFramePr>
        <p:xfrm>
          <a:off xmlns:a="http://schemas.openxmlformats.org/drawingml/2006/main" x="609600" y="1828800"/>
          <a:ext xmlns:a="http://schemas.openxmlformats.org/drawingml/2006/main" cx="10953750" cy="2705100"/>
        </p:xfrm>
        <a:graphic xmlns:a="http://schemas.openxmlformats.org/drawingml/2006/main">
          <a:graphicData uri="http://schemas.openxmlformats.org/drawingml/2006/table">
            <a:tbl>
              <a:tblPr/>
              <a:tblGrid>
                <a:gridCol w="2857500"/>
                <a:gridCol w="5715000"/>
                <a:gridCol w="2381250"/>
              </a:tblGrid>
              <a:tr h="676275">
                <a:tc>
                  <a:txBody>
                    <a:bodyPr>
                      <a:noAutofit/>
                    </a:bodyPr>
                    <a:lstStyle/>
                    <a:p>
                      <a:r>
                        <a:rPr sz="1875" b="1">
                          <a:solidFill>
                            <a:srgbClr val="FFFFFF"/>
                          </a:solidFill>
                          <a:latin typeface="Arial"/>
                          <a:ea typeface="Arial"/>
                          <a:cs typeface="Arial"/>
                        </a:rPr>
                        <a:t>Medida</a:t>
                      </a:r>
                    </a:p>
                  </a:txBody>
                  <a:tcPr marL="91440" marR="91440" marT="45720" marB="45720">
                    <a:solidFill>
                      <a:srgbClr val="101F30"/>
                    </a:solidFill>
                  </a:tcPr>
                </a:tc>
                <a:tc>
                  <a:txBody>
                    <a:bodyPr>
                      <a:noAutofit/>
                    </a:bodyPr>
                    <a:lstStyle/>
                    <a:p>
                      <a:r>
                        <a:rPr sz="1875" b="1">
                          <a:solidFill>
                            <a:srgbClr val="FFFFFF"/>
                          </a:solidFill>
                          <a:latin typeface="Arial"/>
                          <a:ea typeface="Arial"/>
                          <a:cs typeface="Arial"/>
                        </a:rPr>
                        <a:t>Pregunta que responde</a:t>
                      </a:r>
                    </a:p>
                  </a:txBody>
                  <a:tcPr marL="91440" marR="91440" marT="45720" marB="45720">
                    <a:solidFill>
                      <a:srgbClr val="101F30"/>
                    </a:solidFill>
                  </a:tcPr>
                </a:tc>
                <a:tc>
                  <a:txBody>
                    <a:bodyPr>
                      <a:noAutofit/>
                    </a:bodyPr>
                    <a:lstStyle/>
                    <a:p>
                      <a:r>
                        <a:rPr sz="1875" b="1">
                          <a:solidFill>
                            <a:srgbClr val="FFFFFF"/>
                          </a:solidFill>
                          <a:latin typeface="Arial"/>
                          <a:ea typeface="Arial"/>
                          <a:cs typeface="Arial"/>
                        </a:rPr>
                        <a:t>Mejora</a:t>
                      </a:r>
                    </a:p>
                  </a:txBody>
                  <a:tcPr marL="91440" marR="91440" marT="45720" marB="45720">
                    <a:solidFill>
                      <a:srgbClr val="101F30"/>
                    </a:solidFill>
                  </a:tcPr>
                </a:tc>
              </a:tr>
              <a:tr h="676275">
                <a:tc>
                  <a:txBody>
                    <a:bodyPr>
                      <a:noAutofit/>
                    </a:bodyPr>
                    <a:lstStyle/>
                    <a:p>
                      <a:r>
                        <a:rPr sz="1875" b="0">
                          <a:solidFill>
                            <a:srgbClr val="101F30"/>
                          </a:solidFill>
                          <a:latin typeface="Arial"/>
                          <a:ea typeface="Arial"/>
                          <a:cs typeface="Arial"/>
                        </a:rPr>
                        <a:t>NLL / perplejidad</a:t>
                      </a:r>
                    </a:p>
                  </a:txBody>
                  <a:tcPr marL="91440" marR="91440" marT="45720" marB="45720">
                    <a:solidFill>
                      <a:srgbClr val="F5F3EE"/>
                    </a:solidFill>
                  </a:tcPr>
                </a:tc>
                <a:tc>
                  <a:txBody>
                    <a:bodyPr>
                      <a:noAutofit/>
                    </a:bodyPr>
                    <a:lstStyle/>
                    <a:p>
                      <a:r>
                        <a:rPr sz="1875" b="0">
                          <a:solidFill>
                            <a:srgbClr val="101F30"/>
                          </a:solidFill>
                          <a:latin typeface="Arial"/>
                          <a:ea typeface="Arial"/>
                          <a:cs typeface="Arial"/>
                        </a:rPr>
                        <a:t>¿Qué probabilidad recibe la respuesta?</a:t>
                      </a:r>
                    </a:p>
                  </a:txBody>
                  <a:tcPr marL="91440" marR="91440" marT="45720" marB="45720">
                    <a:solidFill>
                      <a:srgbClr val="F5F3EE"/>
                    </a:solidFill>
                  </a:tcPr>
                </a:tc>
                <a:tc>
                  <a:txBody>
                    <a:bodyPr>
                      <a:noAutofit/>
                    </a:bodyPr>
                    <a:lstStyle/>
                    <a:p>
                      <a:r>
                        <a:rPr sz="1875" b="0">
                          <a:solidFill>
                            <a:srgbClr val="101F30"/>
                          </a:solidFill>
                          <a:latin typeface="Arial"/>
                          <a:ea typeface="Arial"/>
                          <a:cs typeface="Arial"/>
                        </a:rPr>
                        <a:t>Menor valor</a:t>
                      </a:r>
                    </a:p>
                  </a:txBody>
                  <a:tcPr marL="91440" marR="91440" marT="45720" marB="45720">
                    <a:solidFill>
                      <a:srgbClr val="F5F3EE"/>
                    </a:solidFill>
                  </a:tcPr>
                </a:tc>
              </a:tr>
              <a:tr h="676275">
                <a:tc>
                  <a:txBody>
                    <a:bodyPr>
                      <a:noAutofit/>
                    </a:bodyPr>
                    <a:lstStyle/>
                    <a:p>
                      <a:r>
                        <a:rPr sz="1875" b="0">
                          <a:solidFill>
                            <a:srgbClr val="101F30"/>
                          </a:solidFill>
                          <a:latin typeface="Arial"/>
                          <a:ea typeface="Arial"/>
                          <a:cs typeface="Arial"/>
                        </a:rPr>
                        <a:t>Top-1 léxico</a:t>
                      </a:r>
                    </a:p>
                  </a:txBody>
                  <a:tcPr marL="91440" marR="91440" marT="45720" marB="45720">
                    <a:solidFill>
                      <a:srgbClr val="E8EDEC"/>
                    </a:solidFill>
                  </a:tcPr>
                </a:tc>
                <a:tc>
                  <a:txBody>
                    <a:bodyPr>
                      <a:noAutofit/>
                    </a:bodyPr>
                    <a:lstStyle/>
                    <a:p>
                      <a:r>
                        <a:rPr sz="1875" b="0">
                          <a:solidFill>
                            <a:srgbClr val="101F30"/>
                          </a:solidFill>
                          <a:latin typeface="Arial"/>
                          <a:ea typeface="Arial"/>
                          <a:cs typeface="Arial"/>
                        </a:rPr>
                        <a:t>¿La respuesta aparece primero?</a:t>
                      </a:r>
                    </a:p>
                  </a:txBody>
                  <a:tcPr marL="91440" marR="91440" marT="45720" marB="45720">
                    <a:solidFill>
                      <a:srgbClr val="E8EDEC"/>
                    </a:solidFill>
                  </a:tcPr>
                </a:tc>
                <a:tc>
                  <a:txBody>
                    <a:bodyPr>
                      <a:noAutofit/>
                    </a:bodyPr>
                    <a:lstStyle/>
                    <a:p>
                      <a:r>
                        <a:rPr sz="1875" b="0">
                          <a:solidFill>
                            <a:srgbClr val="101F30"/>
                          </a:solidFill>
                          <a:latin typeface="Arial"/>
                          <a:ea typeface="Arial"/>
                          <a:cs typeface="Arial"/>
                        </a:rPr>
                        <a:t>Mayor %</a:t>
                      </a:r>
                    </a:p>
                  </a:txBody>
                  <a:tcPr marL="91440" marR="91440" marT="45720" marB="45720">
                    <a:solidFill>
                      <a:srgbClr val="E8EDEC"/>
                    </a:solidFill>
                  </a:tcPr>
                </a:tc>
              </a:tr>
              <a:tr h="676275">
                <a:tc>
                  <a:txBody>
                    <a:bodyPr>
                      <a:noAutofit/>
                    </a:bodyPr>
                    <a:lstStyle/>
                    <a:p>
                      <a:r>
                        <a:rPr sz="1875" b="0">
                          <a:solidFill>
                            <a:srgbClr val="101F30"/>
                          </a:solidFill>
                          <a:latin typeface="Arial"/>
                          <a:ea typeface="Arial"/>
                          <a:cs typeface="Arial"/>
                        </a:rPr>
                        <a:t>Top-5 léxico</a:t>
                      </a:r>
                    </a:p>
                  </a:txBody>
                  <a:tcPr marL="91440" marR="91440" marT="45720" marB="45720">
                    <a:solidFill>
                      <a:srgbClr val="F5F3EE"/>
                    </a:solidFill>
                  </a:tcPr>
                </a:tc>
                <a:tc>
                  <a:txBody>
                    <a:bodyPr>
                      <a:noAutofit/>
                    </a:bodyPr>
                    <a:lstStyle/>
                    <a:p>
                      <a:r>
                        <a:rPr sz="1875" b="0">
                          <a:solidFill>
                            <a:srgbClr val="101F30"/>
                          </a:solidFill>
                          <a:latin typeface="Arial"/>
                          <a:ea typeface="Arial"/>
                          <a:cs typeface="Arial"/>
                        </a:rPr>
                        <a:t>¿Aparece entre los cinco primeros?</a:t>
                      </a:r>
                    </a:p>
                  </a:txBody>
                  <a:tcPr marL="91440" marR="91440" marT="45720" marB="45720">
                    <a:solidFill>
                      <a:srgbClr val="F5F3EE"/>
                    </a:solidFill>
                  </a:tcPr>
                </a:tc>
                <a:tc>
                  <a:txBody>
                    <a:bodyPr>
                      <a:noAutofit/>
                    </a:bodyPr>
                    <a:lstStyle/>
                    <a:p>
                      <a:r>
                        <a:rPr sz="1875" b="0">
                          <a:solidFill>
                            <a:srgbClr val="101F30"/>
                          </a:solidFill>
                          <a:latin typeface="Arial"/>
                          <a:ea typeface="Arial"/>
                          <a:cs typeface="Arial"/>
                        </a:rPr>
                        <a:t>Mayor %</a:t>
                      </a:r>
                    </a:p>
                  </a:txBody>
                  <a:tcPr marL="91440" marR="91440" marT="45720" marB="45720">
                    <a:solidFill>
                      <a:srgbClr val="F5F3EE"/>
                    </a:solidFill>
                  </a:tcPr>
                </a:tc>
              </a:tr>
            </a:tbl>
          </a:graphicData>
        </a:graphic>
      </p:graphicFrame>
      <p:sp>
        <p:nvSpPr>
          <p:cNvPr id="4" name="Ejemplo didáctico">
            <a:extLst xmlns:a="http://schemas.openxmlformats.org/drawingml/2006/main">
              <a:ext uri="{FF2B5EF4-FFF2-40B4-BE49-F238E27FC236}">
                <a16:creationId xmlns:a16="http://schemas.microsoft.com/office/drawing/2014/main" id="{B24EA485-E0FD-470A-A3C1-022BD2EE372B}"/>
              </a:ext>
            </a:extLst>
          </p:cNvPr>
          <p:cNvSpPr>
            <a:spLocks xmlns:a="http://schemas.openxmlformats.org/drawingml/2006/main" noGrp="1"/>
          </p:cNvSpPr>
          <p:nvPr/>
        </p:nvSpPr>
        <p:spPr>
          <a:xfrm xmlns:a="http://schemas.openxmlformats.org/drawingml/2006/main">
            <a:off x="609600" y="49911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D82"/>
                </a:solidFill>
                <a:latin typeface="Arial"/>
                <a:ea typeface="Arial"/>
                <a:cs typeface="Arial"/>
              </a:defRPr>
            </a:pPr>
            <a:r>
              <a:rPr sz="2250" b="1">
                <a:solidFill>
                  <a:srgbClr val="007D82"/>
                </a:solidFill>
                <a:latin typeface="Arial"/>
                <a:ea typeface="Arial"/>
                <a:cs typeface="Arial"/>
              </a:rPr>
              <a:t>Ejemplo didáctico</a:t>
            </a:r>
          </a:p>
        </p:txBody>
      </p:sp>
      <p:sp>
        <p:nvSpPr>
          <p:cNvPr id="5" name="Respuesta en el puesto 4: top-1 falla y top-5 acierta.">
            <a:extLst xmlns:a="http://schemas.openxmlformats.org/drawingml/2006/main">
              <a:ext uri="{FF2B5EF4-FFF2-40B4-BE49-F238E27FC236}">
                <a16:creationId xmlns:a16="http://schemas.microsoft.com/office/drawing/2014/main" id="{CB061057-2E50-481B-AF53-BCFB5E3511CA}"/>
              </a:ext>
            </a:extLst>
          </p:cNvPr>
          <p:cNvSpPr>
            <a:spLocks xmlns:a="http://schemas.openxmlformats.org/drawingml/2006/main" noGrp="1"/>
          </p:cNvSpPr>
          <p:nvPr/>
        </p:nvSpPr>
        <p:spPr>
          <a:xfrm xmlns:a="http://schemas.openxmlformats.org/drawingml/2006/main">
            <a:off x="609600" y="55340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1F30"/>
                </a:solidFill>
                <a:latin typeface="Arial"/>
                <a:ea typeface="Arial"/>
                <a:cs typeface="Arial"/>
              </a:defRPr>
            </a:pPr>
            <a:r>
              <a:rPr sz="2250" b="0">
                <a:solidFill>
                  <a:srgbClr val="101F30"/>
                </a:solidFill>
                <a:latin typeface="Arial"/>
                <a:ea typeface="Arial"/>
                <a:cs typeface="Arial"/>
              </a:rPr>
              <a:t>Respuesta en el puesto 4: top-1 falla y top-5 acierta.</a:t>
            </a:r>
          </a:p>
        </p:txBody>
      </p:sp>
    </p:spTree>
    <p:extLst>
      <p:ext uri="{BB962C8B-B14F-4D97-AF65-F5344CB8AC3E}">
        <p14:creationId xmlns:p14="http://schemas.microsoft.com/office/powerpoint/2010/main" val="1930823512"/>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9" name="La RNN obtuvo mejores medias en esta prueba">
            <a:extLst xmlns:a="http://schemas.openxmlformats.org/drawingml/2006/main">
              <a:ext uri="{FF2B5EF4-FFF2-40B4-BE49-F238E27FC236}">
                <a16:creationId xmlns:a16="http://schemas.microsoft.com/office/drawing/2014/main" id="{D8E83883-994A-4DA6-9C8F-3EF1C6CA13AF}"/>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La RNN obtuvo mejores medias en esta prueba</a:t>
            </a:r>
          </a:p>
        </p:txBody>
      </p:sp>
      <p:sp>
        <p:nvSpPr>
          <p:cNvPr id="2" name="09 / 12">
            <a:extLst xmlns:a="http://schemas.openxmlformats.org/drawingml/2006/main">
              <a:ext uri="{FF2B5EF4-FFF2-40B4-BE49-F238E27FC236}">
                <a16:creationId xmlns:a16="http://schemas.microsoft.com/office/drawing/2014/main" id="{3E2240D3-0EAA-48CA-82CC-A99EE08E2721}"/>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09 / 12</a:t>
            </a:r>
          </a:p>
        </p:txBody>
      </p:sp>
      <p:sp>
        <p:nvSpPr>
          <p:cNvPr id="3" name="Perplejidad · menor es mejor">
            <a:extLst xmlns:a="http://schemas.openxmlformats.org/drawingml/2006/main">
              <a:ext uri="{FF2B5EF4-FFF2-40B4-BE49-F238E27FC236}">
                <a16:creationId xmlns:a16="http://schemas.microsoft.com/office/drawing/2014/main" id="{8E04F9F3-F822-40A9-84EA-4A3EE9039ECF}"/>
              </a:ext>
            </a:extLst>
          </p:cNvPr>
          <p:cNvSpPr>
            <a:spLocks xmlns:a="http://schemas.openxmlformats.org/drawingml/2006/main" noGrp="1"/>
          </p:cNvSpPr>
          <p:nvPr/>
        </p:nvSpPr>
        <p:spPr>
          <a:xfrm xmlns:a="http://schemas.openxmlformats.org/drawingml/2006/main">
            <a:off x="609600" y="1657350"/>
            <a:ext cx="5267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F30"/>
                </a:solidFill>
                <a:latin typeface="Arial"/>
                <a:ea typeface="Arial"/>
                <a:cs typeface="Arial"/>
              </a:defRPr>
            </a:pPr>
            <a:r>
              <a:rPr sz="2025" b="1">
                <a:solidFill>
                  <a:srgbClr val="101F30"/>
                </a:solidFill>
                <a:latin typeface="Arial"/>
                <a:ea typeface="Arial"/>
                <a:cs typeface="Arial"/>
              </a:rPr>
              <a:t>Perplejidad · menor es mejor</a:t>
            </a:r>
          </a:p>
        </p:txBody>
      </p:sp>
      <p:graphicFrame>
        <p:nvGraphicFramePr>
          <p:cNvPr id="12" name="Chart"/>
          <p:cNvGraphicFramePr/>
          <p:nvPr/>
        </p:nvGraphicFramePr>
        <p:xfrm>
          <a:off xmlns:a="http://schemas.openxmlformats.org/drawingml/2006/main" x="609600" y="2228850"/>
          <a:ext xmlns:a="http://schemas.openxmlformats.org/drawingml/2006/main" cx="5219700" cy="3067050"/>
        </p:xfrm>
        <a:graphic xmlns:a="http://schemas.openxmlformats.org/drawingml/2006/main">
          <a:graphicData uri="http://schemas.openxmlformats.org/drawingml/2006/chart">
            <c:chart xmlns:r="http://schemas.openxmlformats.org/officeDocument/2006/relationships" xmlns:c="http://schemas.openxmlformats.org/drawingml/2006/chart" r:id="R0124fefad6054a80"/>
          </a:graphicData>
        </a:graphic>
      </p:graphicFrame>
      <p:sp>
        <p:nvSpPr>
          <p:cNvPr id="5" name="Top-5 léxico (%) · mayor es mejor">
            <a:extLst xmlns:a="http://schemas.openxmlformats.org/drawingml/2006/main">
              <a:ext uri="{FF2B5EF4-FFF2-40B4-BE49-F238E27FC236}">
                <a16:creationId xmlns:a16="http://schemas.microsoft.com/office/drawing/2014/main" id="{E86CAF6D-F046-49D1-8375-91039BF92AE1}"/>
              </a:ext>
            </a:extLst>
          </p:cNvPr>
          <p:cNvSpPr>
            <a:spLocks xmlns:a="http://schemas.openxmlformats.org/drawingml/2006/main" noGrp="1"/>
          </p:cNvSpPr>
          <p:nvPr/>
        </p:nvSpPr>
        <p:spPr>
          <a:xfrm xmlns:a="http://schemas.openxmlformats.org/drawingml/2006/main">
            <a:off x="6334125" y="1657350"/>
            <a:ext cx="5267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F30"/>
                </a:solidFill>
                <a:latin typeface="Arial"/>
                <a:ea typeface="Arial"/>
                <a:cs typeface="Arial"/>
              </a:defRPr>
            </a:pPr>
            <a:r>
              <a:rPr sz="2025" b="1">
                <a:solidFill>
                  <a:srgbClr val="101F30"/>
                </a:solidFill>
                <a:latin typeface="Arial"/>
                <a:ea typeface="Arial"/>
                <a:cs typeface="Arial"/>
              </a:rPr>
              <a:t>Top-5 léxico (%) · mayor es mejor</a:t>
            </a:r>
          </a:p>
        </p:txBody>
      </p:sp>
      <p:graphicFrame>
        <p:nvGraphicFramePr>
          <p:cNvPr id="14" name="Chart"/>
          <p:cNvGraphicFramePr/>
          <p:nvPr/>
        </p:nvGraphicFramePr>
        <p:xfrm>
          <a:off xmlns:a="http://schemas.openxmlformats.org/drawingml/2006/main" x="6334125" y="2228850"/>
          <a:ext xmlns:a="http://schemas.openxmlformats.org/drawingml/2006/main" cx="5219700" cy="3067050"/>
        </p:xfrm>
        <a:graphic xmlns:a="http://schemas.openxmlformats.org/drawingml/2006/main">
          <a:graphicData uri="http://schemas.openxmlformats.org/drawingml/2006/chart">
            <c:chart xmlns:r="http://schemas.openxmlformats.org/officeDocument/2006/relationships" xmlns:c="http://schemas.openxmlformats.org/drawingml/2006/chart" r:id="R4f761aa7dcd64644"/>
          </a:graphicData>
        </a:graphic>
      </p:graphicFrame>
      <p:sp>
        <p:nvSpPr>
          <p:cNvPr id="7" name="Ganancia top-5 frente al bigrama: RNN +0,96 puntos porc">
            <a:extLst xmlns:a="http://schemas.openxmlformats.org/drawingml/2006/main">
              <a:ext uri="{FF2B5EF4-FFF2-40B4-BE49-F238E27FC236}">
                <a16:creationId xmlns:a16="http://schemas.microsoft.com/office/drawing/2014/main" id="{C45881F6-C8CE-47AC-8F3D-0525D9376FFC}"/>
              </a:ext>
            </a:extLst>
          </p:cNvPr>
          <p:cNvSpPr>
            <a:spLocks xmlns:a="http://schemas.openxmlformats.org/drawingml/2006/main" noGrp="1"/>
          </p:cNvSpPr>
          <p:nvPr/>
        </p:nvSpPr>
        <p:spPr>
          <a:xfrm xmlns:a="http://schemas.openxmlformats.org/drawingml/2006/main">
            <a:off x="609600" y="558165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D82"/>
                </a:solidFill>
                <a:latin typeface="Arial"/>
                <a:ea typeface="Arial"/>
                <a:cs typeface="Arial"/>
              </a:defRPr>
            </a:pPr>
            <a:r>
              <a:rPr sz="2100" b="1">
                <a:solidFill>
                  <a:srgbClr val="007D82"/>
                </a:solidFill>
                <a:latin typeface="Arial"/>
                <a:ea typeface="Arial"/>
                <a:cs typeface="Arial"/>
              </a:rPr>
              <a:t>Ganancia top-5 frente al bigrama: RNN +0,96 puntos porcentuales.</a:t>
            </a:r>
          </a:p>
        </p:txBody>
      </p:sp>
      <p:sp>
        <p:nvSpPr>
          <p:cNvPr id="8" name="Medias de tres semillas para las redes. Prueba: 56 796 ">
            <a:extLst xmlns:a="http://schemas.openxmlformats.org/drawingml/2006/main">
              <a:ext uri="{FF2B5EF4-FFF2-40B4-BE49-F238E27FC236}">
                <a16:creationId xmlns:a16="http://schemas.microsoft.com/office/drawing/2014/main" id="{1BF3C78E-91FD-4B36-AA17-5FCBACF4552A}"/>
              </a:ext>
            </a:extLst>
          </p:cNvPr>
          <p:cNvSpPr>
            <a:spLocks xmlns:a="http://schemas.openxmlformats.org/drawingml/2006/main" noGrp="1"/>
          </p:cNvSpPr>
          <p:nvPr/>
        </p:nvSpPr>
        <p:spPr>
          <a:xfrm xmlns:a="http://schemas.openxmlformats.org/drawingml/2006/main">
            <a:off x="609600" y="606742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16B"/>
                </a:solidFill>
                <a:latin typeface="Arial"/>
                <a:ea typeface="Arial"/>
                <a:cs typeface="Arial"/>
              </a:defRPr>
            </a:pPr>
            <a:r>
              <a:rPr sz="1575" b="0">
                <a:solidFill>
                  <a:srgbClr val="52616B"/>
                </a:solidFill>
                <a:latin typeface="Arial"/>
                <a:ea typeface="Arial"/>
                <a:cs typeface="Arial"/>
              </a:rPr>
              <a:t>Medias de tres semillas para las redes. Prueba: 56 796 objetivos.</a:t>
            </a:r>
          </a:p>
        </p:txBody>
      </p:sp>
    </p:spTree>
    <p:extLst>
      <p:ext uri="{BB962C8B-B14F-4D97-AF65-F5344CB8AC3E}">
        <p14:creationId xmlns:p14="http://schemas.microsoft.com/office/powerpoint/2010/main" val="1728851386"/>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9" name="El aprendizaje mejora, pero la cobertura limita">
            <a:extLst xmlns:a="http://schemas.openxmlformats.org/drawingml/2006/main">
              <a:ext uri="{FF2B5EF4-FFF2-40B4-BE49-F238E27FC236}">
                <a16:creationId xmlns:a16="http://schemas.microsoft.com/office/drawing/2014/main" id="{842C6F7F-E1D6-4DC9-9DC4-2A27F533D7E9}"/>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El aprendizaje mejora, pero la cobertura limita</a:t>
            </a:r>
          </a:p>
        </p:txBody>
      </p:sp>
      <p:sp>
        <p:nvSpPr>
          <p:cNvPr id="2" name="10 / 12">
            <a:extLst xmlns:a="http://schemas.openxmlformats.org/drawingml/2006/main">
              <a:ext uri="{FF2B5EF4-FFF2-40B4-BE49-F238E27FC236}">
                <a16:creationId xmlns:a16="http://schemas.microsoft.com/office/drawing/2014/main" id="{355EAFE1-4F36-41C6-ADEA-D5B14D6B3FE8}"/>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10 / 12</a:t>
            </a:r>
          </a:p>
        </p:txBody>
      </p:sp>
      <p:sp>
        <p:nvSpPr>
          <p:cNvPr id="3" name="LSTM seleccionada para la demo">
            <a:extLst xmlns:a="http://schemas.openxmlformats.org/drawingml/2006/main">
              <a:ext uri="{FF2B5EF4-FFF2-40B4-BE49-F238E27FC236}">
                <a16:creationId xmlns:a16="http://schemas.microsoft.com/office/drawing/2014/main" id="{BCE246E0-C83A-4813-AEE3-53893AD2EF5B}"/>
              </a:ext>
            </a:extLst>
          </p:cNvPr>
          <p:cNvSpPr>
            <a:spLocks xmlns:a="http://schemas.openxmlformats.org/drawingml/2006/main" noGrp="1"/>
          </p:cNvSpPr>
          <p:nvPr/>
        </p:nvSpPr>
        <p:spPr>
          <a:xfrm xmlns:a="http://schemas.openxmlformats.org/drawingml/2006/main">
            <a:off x="609600" y="1685925"/>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F30"/>
                </a:solidFill>
                <a:latin typeface="Arial"/>
                <a:ea typeface="Arial"/>
                <a:cs typeface="Arial"/>
              </a:defRPr>
            </a:pPr>
            <a:r>
              <a:rPr sz="2025" b="1">
                <a:solidFill>
                  <a:srgbClr val="101F30"/>
                </a:solidFill>
                <a:latin typeface="Arial"/>
                <a:ea typeface="Arial"/>
                <a:cs typeface="Arial"/>
              </a:rPr>
              <a:t>LSTM seleccionada para la demo</a:t>
            </a:r>
          </a:p>
        </p:txBody>
      </p:sp>
      <p:graphicFrame>
        <p:nvGraphicFramePr>
          <p:cNvPr id="12" name="Chart"/>
          <p:cNvGraphicFramePr/>
          <p:nvPr/>
        </p:nvGraphicFramePr>
        <p:xfrm>
          <a:off xmlns:a="http://schemas.openxmlformats.org/drawingml/2006/main" x="609600" y="2190750"/>
          <a:ext xmlns:a="http://schemas.openxmlformats.org/drawingml/2006/main" cx="6905625" cy="3314700"/>
        </p:xfrm>
        <a:graphic xmlns:a="http://schemas.openxmlformats.org/drawingml/2006/main">
          <a:graphicData uri="http://schemas.openxmlformats.org/drawingml/2006/chart">
            <c:chart xmlns:r="http://schemas.openxmlformats.org/officeDocument/2006/relationships" xmlns:c="http://schemas.openxmlformats.org/drawingml/2006/chart" r:id="Rabef8c3fa5a843fc"/>
          </a:graphicData>
        </a:graphic>
      </p:graphicFrame>
      <p:sp>
        <p:nvSpPr>
          <p:cNvPr id="5" name="21,19 %">
            <a:extLst xmlns:a="http://schemas.openxmlformats.org/drawingml/2006/main">
              <a:ext uri="{FF2B5EF4-FFF2-40B4-BE49-F238E27FC236}">
                <a16:creationId xmlns:a16="http://schemas.microsoft.com/office/drawing/2014/main" id="{94810C88-8238-47CC-81C8-891B2B11392D}"/>
              </a:ext>
            </a:extLst>
          </p:cNvPr>
          <p:cNvSpPr>
            <a:spLocks xmlns:a="http://schemas.openxmlformats.org/drawingml/2006/main" noGrp="1"/>
          </p:cNvSpPr>
          <p:nvPr/>
        </p:nvSpPr>
        <p:spPr>
          <a:xfrm xmlns:a="http://schemas.openxmlformats.org/drawingml/2006/main">
            <a:off x="8239125" y="2295525"/>
            <a:ext cx="328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B97923"/>
                </a:solidFill>
                <a:latin typeface="Arial"/>
                <a:ea typeface="Arial"/>
                <a:cs typeface="Arial"/>
              </a:defRPr>
            </a:pPr>
            <a:r>
              <a:rPr sz="4500" b="1">
                <a:solidFill>
                  <a:srgbClr val="B97923"/>
                </a:solidFill>
                <a:latin typeface="Arial"/>
                <a:ea typeface="Arial"/>
                <a:cs typeface="Arial"/>
              </a:rPr>
              <a:t>21,19 %</a:t>
            </a:r>
          </a:p>
        </p:txBody>
      </p:sp>
      <p:sp>
        <p:nvSpPr>
          <p:cNvPr id="6" name="de objetivos de prueba&#10;fuera del vocabulario">
            <a:extLst xmlns:a="http://schemas.openxmlformats.org/drawingml/2006/main">
              <a:ext uri="{FF2B5EF4-FFF2-40B4-BE49-F238E27FC236}">
                <a16:creationId xmlns:a16="http://schemas.microsoft.com/office/drawing/2014/main" id="{CA09BA88-8CC6-4E75-97CF-D48D1E4A5AE0}"/>
              </a:ext>
            </a:extLst>
          </p:cNvPr>
          <p:cNvSpPr>
            <a:spLocks xmlns:a="http://schemas.openxmlformats.org/drawingml/2006/main" noGrp="1"/>
          </p:cNvSpPr>
          <p:nvPr/>
        </p:nvSpPr>
        <p:spPr>
          <a:xfrm xmlns:a="http://schemas.openxmlformats.org/drawingml/2006/main">
            <a:off x="8239125" y="325755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1F30"/>
                </a:solidFill>
                <a:latin typeface="Arial"/>
                <a:ea typeface="Arial"/>
                <a:cs typeface="Arial"/>
              </a:defRPr>
            </a:pPr>
            <a:r>
              <a:rPr sz="2025" b="0">
                <a:solidFill>
                  <a:srgbClr val="101F30"/>
                </a:solidFill>
                <a:latin typeface="Arial"/>
                <a:ea typeface="Arial"/>
                <a:cs typeface="Arial"/>
              </a:rPr>
              <a:t>de objetivos de prueba</a:t>
            </a:r>
          </a:p>
          <a:p xmlns:a="http://schemas.openxmlformats.org/drawingml/2006/main">
            <a:pPr>
              <a:defRPr sz="2025" b="0">
                <a:solidFill>
                  <a:srgbClr val="101F30"/>
                </a:solidFill>
                <a:latin typeface="Arial"/>
                <a:ea typeface="Arial"/>
                <a:cs typeface="Arial"/>
              </a:defRPr>
            </a:pPr>
            <a:r>
              <a:rPr sz="2025" b="0">
                <a:solidFill>
                  <a:srgbClr val="101F30"/>
                </a:solidFill>
                <a:latin typeface="Arial"/>
                <a:ea typeface="Arial"/>
                <a:cs typeface="Arial"/>
              </a:rPr>
              <a:t>fuera del vocabulario</a:t>
            </a:r>
          </a:p>
        </p:txBody>
      </p:sp>
      <p:sp>
        <p:nvSpPr>
          <p:cNvPr id="7" name="12 033 de 56 796&#10;Palabras agrupadas como UNK">
            <a:extLst xmlns:a="http://schemas.openxmlformats.org/drawingml/2006/main">
              <a:ext uri="{FF2B5EF4-FFF2-40B4-BE49-F238E27FC236}">
                <a16:creationId xmlns:a16="http://schemas.microsoft.com/office/drawing/2014/main" id="{9760D16F-2C07-476F-B620-C95E125DB9CE}"/>
              </a:ext>
            </a:extLst>
          </p:cNvPr>
          <p:cNvSpPr>
            <a:spLocks xmlns:a="http://schemas.openxmlformats.org/drawingml/2006/main" noGrp="1"/>
          </p:cNvSpPr>
          <p:nvPr/>
        </p:nvSpPr>
        <p:spPr>
          <a:xfrm xmlns:a="http://schemas.openxmlformats.org/drawingml/2006/main">
            <a:off x="8239125" y="4371975"/>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16B"/>
                </a:solidFill>
                <a:latin typeface="Arial"/>
                <a:ea typeface="Arial"/>
                <a:cs typeface="Arial"/>
              </a:defRPr>
            </a:pPr>
            <a:r>
              <a:rPr sz="1800" b="0">
                <a:solidFill>
                  <a:srgbClr val="52616B"/>
                </a:solidFill>
                <a:latin typeface="Arial"/>
                <a:ea typeface="Arial"/>
                <a:cs typeface="Arial"/>
              </a:rPr>
              <a:t>12 033 de 56 796</a:t>
            </a:r>
          </a:p>
          <a:p xmlns:a="http://schemas.openxmlformats.org/drawingml/2006/main">
            <a:pPr>
              <a:defRPr sz="1800" b="0">
                <a:solidFill>
                  <a:srgbClr val="52616B"/>
                </a:solidFill>
                <a:latin typeface="Arial"/>
                <a:ea typeface="Arial"/>
                <a:cs typeface="Arial"/>
              </a:defRPr>
            </a:pPr>
            <a:r>
              <a:rPr sz="1800" b="0">
                <a:solidFill>
                  <a:srgbClr val="52616B"/>
                </a:solidFill>
                <a:latin typeface="Arial"/>
                <a:ea typeface="Arial"/>
                <a:cs typeface="Arial"/>
              </a:rPr>
              <a:t>Palabras agrupadas como UNK</a:t>
            </a:r>
          </a:p>
        </p:txBody>
      </p:sp>
      <p:sp>
        <p:nvSpPr>
          <p:cNvPr id="8" name="Menor pérdida de validación en la época 5. La cobertura">
            <a:extLst xmlns:a="http://schemas.openxmlformats.org/drawingml/2006/main">
              <a:ext uri="{FF2B5EF4-FFF2-40B4-BE49-F238E27FC236}">
                <a16:creationId xmlns:a16="http://schemas.microsoft.com/office/drawing/2014/main" id="{02F37D44-19CA-4965-88AE-AE57DF19D0FE}"/>
              </a:ext>
            </a:extLst>
          </p:cNvPr>
          <p:cNvSpPr>
            <a:spLocks xmlns:a="http://schemas.openxmlformats.org/drawingml/2006/main" noGrp="1"/>
          </p:cNvSpPr>
          <p:nvPr/>
        </p:nvSpPr>
        <p:spPr>
          <a:xfrm xmlns:a="http://schemas.openxmlformats.org/drawingml/2006/main">
            <a:off x="609600" y="58388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D82"/>
                </a:solidFill>
                <a:latin typeface="Arial"/>
                <a:ea typeface="Arial"/>
                <a:cs typeface="Arial"/>
              </a:defRPr>
            </a:pPr>
            <a:r>
              <a:rPr sz="1800" b="1">
                <a:solidFill>
                  <a:srgbClr val="007D82"/>
                </a:solidFill>
                <a:latin typeface="Arial"/>
                <a:ea typeface="Arial"/>
                <a:cs typeface="Arial"/>
              </a:rPr>
              <a:t>Menor pérdida de validación en la época 5. La cobertura sigue siendo limitada.</a:t>
            </a:r>
          </a:p>
        </p:txBody>
      </p:sp>
    </p:spTree>
    <p:extLst>
      <p:ext uri="{BB962C8B-B14F-4D97-AF65-F5344CB8AC3E}">
        <p14:creationId xmlns:p14="http://schemas.microsoft.com/office/powerpoint/2010/main" val="1524736413"/>
      </p:ext>
    </p:extLst>
  </p:cSld>
</p:sld>
</file>

<file path=ppt/slides/slide1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Demostración del autocompletado">
            <a:extLst xmlns:a="http://schemas.openxmlformats.org/drawingml/2006/main">
              <a:ext uri="{FF2B5EF4-FFF2-40B4-BE49-F238E27FC236}">
                <a16:creationId xmlns:a16="http://schemas.microsoft.com/office/drawing/2014/main" id="{D250A9CD-56C9-4BD1-B7F7-99F7AFBAFCA0}"/>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1F30"/>
                </a:solidFill>
                <a:latin typeface="Arial"/>
                <a:ea typeface="Arial"/>
                <a:cs typeface="Arial"/>
              </a:defRPr>
            </a:pPr>
            <a:r>
              <a:rPr sz="3225" b="1">
                <a:solidFill>
                  <a:srgbClr val="101F30"/>
                </a:solidFill>
                <a:latin typeface="Arial"/>
                <a:ea typeface="Arial"/>
                <a:cs typeface="Arial"/>
              </a:rPr>
              <a:t>Demostración del autocompletado</a:t>
            </a:r>
          </a:p>
        </p:txBody>
      </p:sp>
      <p:sp>
        <p:nvSpPr>
          <p:cNvPr id="2" name="11 / 12">
            <a:extLst xmlns:a="http://schemas.openxmlformats.org/drawingml/2006/main">
              <a:ext uri="{FF2B5EF4-FFF2-40B4-BE49-F238E27FC236}">
                <a16:creationId xmlns:a16="http://schemas.microsoft.com/office/drawing/2014/main" id="{B7796EBC-86A6-4FDA-92DF-3A6A08A34649}"/>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11 / 12</a:t>
            </a:r>
          </a:p>
        </p:txBody>
      </p:sp>
      <p:sp>
        <p:nvSpPr>
          <p:cNvPr id="3" name="Entrada: el presidente del gobierno">
            <a:extLst xmlns:a="http://schemas.openxmlformats.org/drawingml/2006/main">
              <a:ext uri="{FF2B5EF4-FFF2-40B4-BE49-F238E27FC236}">
                <a16:creationId xmlns:a16="http://schemas.microsoft.com/office/drawing/2014/main" id="{8376A51B-BD3D-4ACF-B19D-76AB7B539B4B}"/>
              </a:ext>
            </a:extLst>
          </p:cNvPr>
          <p:cNvSpPr>
            <a:spLocks xmlns:a="http://schemas.openxmlformats.org/drawingml/2006/main" noGrp="1"/>
          </p:cNvSpPr>
          <p:nvPr/>
        </p:nvSpPr>
        <p:spPr>
          <a:xfrm xmlns:a="http://schemas.openxmlformats.org/drawingml/2006/main">
            <a:off x="609600" y="16764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D82"/>
                </a:solidFill>
                <a:latin typeface="Arial"/>
                <a:ea typeface="Arial"/>
                <a:cs typeface="Arial"/>
              </a:defRPr>
            </a:pPr>
            <a:r>
              <a:rPr sz="2475" b="1">
                <a:solidFill>
                  <a:srgbClr val="007D82"/>
                </a:solidFill>
                <a:latin typeface="Arial"/>
                <a:ea typeface="Arial"/>
                <a:cs typeface="Arial"/>
              </a:rPr>
              <a:t>Entrada: el presidente del gobierno</a:t>
            </a:r>
          </a:p>
        </p:txBody>
      </p:sp>
      <p:graphicFrame>
        <p:nvGraphicFramePr>
          <p:cNvPr id="13" name=""/>
          <p:cNvGraphicFramePr/>
          <p:nvPr/>
        </p:nvGraphicFramePr>
        <p:xfrm>
          <a:off xmlns:a="http://schemas.openxmlformats.org/drawingml/2006/main" x="609600" y="2447925"/>
          <a:ext xmlns:a="http://schemas.openxmlformats.org/drawingml/2006/main" cx="5619750" cy="3162300"/>
        </p:xfrm>
        <a:graphic xmlns:a="http://schemas.openxmlformats.org/drawingml/2006/main">
          <a:graphicData uri="http://schemas.openxmlformats.org/drawingml/2006/table">
            <a:tbl>
              <a:tblPr/>
              <a:tblGrid>
                <a:gridCol w="3190875"/>
                <a:gridCol w="2428875"/>
              </a:tblGrid>
              <a:tr h="527050">
                <a:tc>
                  <a:txBody>
                    <a:bodyPr>
                      <a:noAutofit/>
                    </a:bodyPr>
                    <a:lstStyle/>
                    <a:p>
                      <a:r>
                        <a:rPr sz="2025" b="1">
                          <a:solidFill>
                            <a:srgbClr val="FFFFFF"/>
                          </a:solidFill>
                          <a:latin typeface="Arial"/>
                          <a:ea typeface="Arial"/>
                          <a:cs typeface="Arial"/>
                        </a:rPr>
                        <a:t>Sugerencia</a:t>
                      </a:r>
                    </a:p>
                  </a:txBody>
                  <a:tcPr marL="91440" marR="91440" marT="45720" marB="45720">
                    <a:solidFill>
                      <a:srgbClr val="101F30"/>
                    </a:solidFill>
                  </a:tcPr>
                </a:tc>
                <a:tc>
                  <a:txBody>
                    <a:bodyPr>
                      <a:noAutofit/>
                    </a:bodyPr>
                    <a:lstStyle/>
                    <a:p>
                      <a:r>
                        <a:rPr sz="2025" b="1">
                          <a:solidFill>
                            <a:srgbClr val="FFFFFF"/>
                          </a:solidFill>
                          <a:latin typeface="Arial"/>
                          <a:ea typeface="Arial"/>
                          <a:cs typeface="Arial"/>
                        </a:rPr>
                        <a:t>Probabilidad</a:t>
                      </a:r>
                    </a:p>
                  </a:txBody>
                  <a:tcPr marL="91440" marR="91440" marT="45720" marB="45720">
                    <a:solidFill>
                      <a:srgbClr val="101F30"/>
                    </a:solidFill>
                  </a:tcPr>
                </a:tc>
              </a:tr>
              <a:tr h="527050">
                <a:tc>
                  <a:txBody>
                    <a:bodyPr>
                      <a:noAutofit/>
                    </a:bodyPr>
                    <a:lstStyle/>
                    <a:p>
                      <a:r>
                        <a:rPr sz="2025" b="0">
                          <a:solidFill>
                            <a:srgbClr val="101F30"/>
                          </a:solidFill>
                          <a:latin typeface="Arial"/>
                          <a:ea typeface="Arial"/>
                          <a:cs typeface="Arial"/>
                        </a:rPr>
                        <a:t>de</a:t>
                      </a:r>
                    </a:p>
                  </a:txBody>
                  <a:tcPr marL="91440" marR="91440" marT="45720" marB="45720">
                    <a:solidFill>
                      <a:srgbClr val="F5F3EE"/>
                    </a:solidFill>
                  </a:tcPr>
                </a:tc>
                <a:tc>
                  <a:txBody>
                    <a:bodyPr>
                      <a:noAutofit/>
                    </a:bodyPr>
                    <a:lstStyle/>
                    <a:p>
                      <a:r>
                        <a:rPr sz="2025" b="0">
                          <a:solidFill>
                            <a:srgbClr val="101F30"/>
                          </a:solidFill>
                          <a:latin typeface="Arial"/>
                          <a:ea typeface="Arial"/>
                          <a:cs typeface="Arial"/>
                        </a:rPr>
                        <a:t>13,77 %</a:t>
                      </a:r>
                    </a:p>
                  </a:txBody>
                  <a:tcPr marL="91440" marR="91440" marT="45720" marB="45720">
                    <a:solidFill>
                      <a:srgbClr val="F5F3EE"/>
                    </a:solidFill>
                  </a:tcPr>
                </a:tc>
              </a:tr>
              <a:tr h="527050">
                <a:tc>
                  <a:txBody>
                    <a:bodyPr>
                      <a:noAutofit/>
                    </a:bodyPr>
                    <a:lstStyle/>
                    <a:p>
                      <a:r>
                        <a:rPr sz="2025" b="0">
                          <a:solidFill>
                            <a:srgbClr val="101F30"/>
                          </a:solidFill>
                          <a:latin typeface="Arial"/>
                          <a:ea typeface="Arial"/>
                          <a:cs typeface="Arial"/>
                        </a:rPr>
                        <a:t>del</a:t>
                      </a:r>
                    </a:p>
                  </a:txBody>
                  <a:tcPr marL="91440" marR="91440" marT="45720" marB="45720">
                    <a:solidFill>
                      <a:srgbClr val="E8EDEC"/>
                    </a:solidFill>
                  </a:tcPr>
                </a:tc>
                <a:tc>
                  <a:txBody>
                    <a:bodyPr>
                      <a:noAutofit/>
                    </a:bodyPr>
                    <a:lstStyle/>
                    <a:p>
                      <a:r>
                        <a:rPr sz="2025" b="0">
                          <a:solidFill>
                            <a:srgbClr val="101F30"/>
                          </a:solidFill>
                          <a:latin typeface="Arial"/>
                          <a:ea typeface="Arial"/>
                          <a:cs typeface="Arial"/>
                        </a:rPr>
                        <a:t>7,35 %</a:t>
                      </a:r>
                    </a:p>
                  </a:txBody>
                  <a:tcPr marL="91440" marR="91440" marT="45720" marB="45720">
                    <a:solidFill>
                      <a:srgbClr val="E8EDEC"/>
                    </a:solidFill>
                  </a:tcPr>
                </a:tc>
              </a:tr>
              <a:tr h="527050">
                <a:tc>
                  <a:txBody>
                    <a:bodyPr>
                      <a:noAutofit/>
                    </a:bodyPr>
                    <a:lstStyle/>
                    <a:p>
                      <a:r>
                        <a:rPr sz="2025" b="0">
                          <a:solidFill>
                            <a:srgbClr val="101F30"/>
                          </a:solidFill>
                          <a:latin typeface="Arial"/>
                          <a:ea typeface="Arial"/>
                          <a:cs typeface="Arial"/>
                        </a:rPr>
                        <a:t>vasco</a:t>
                      </a:r>
                    </a:p>
                  </a:txBody>
                  <a:tcPr marL="91440" marR="91440" marT="45720" marB="45720">
                    <a:solidFill>
                      <a:srgbClr val="F5F3EE"/>
                    </a:solidFill>
                  </a:tcPr>
                </a:tc>
                <a:tc>
                  <a:txBody>
                    <a:bodyPr>
                      <a:noAutofit/>
                    </a:bodyPr>
                    <a:lstStyle/>
                    <a:p>
                      <a:r>
                        <a:rPr sz="2025" b="0">
                          <a:solidFill>
                            <a:srgbClr val="101F30"/>
                          </a:solidFill>
                          <a:latin typeface="Arial"/>
                          <a:ea typeface="Arial"/>
                          <a:cs typeface="Arial"/>
                        </a:rPr>
                        <a:t>3,00 %</a:t>
                      </a:r>
                    </a:p>
                  </a:txBody>
                  <a:tcPr marL="91440" marR="91440" marT="45720" marB="45720">
                    <a:solidFill>
                      <a:srgbClr val="F5F3EE"/>
                    </a:solidFill>
                  </a:tcPr>
                </a:tc>
              </a:tr>
              <a:tr h="527050">
                <a:tc>
                  <a:txBody>
                    <a:bodyPr>
                      <a:noAutofit/>
                    </a:bodyPr>
                    <a:lstStyle/>
                    <a:p>
                      <a:r>
                        <a:rPr sz="2025" b="0">
                          <a:solidFill>
                            <a:srgbClr val="101F30"/>
                          </a:solidFill>
                          <a:latin typeface="Arial"/>
                          <a:ea typeface="Arial"/>
                          <a:cs typeface="Arial"/>
                        </a:rPr>
                        <a:t>es</a:t>
                      </a:r>
                    </a:p>
                  </a:txBody>
                  <a:tcPr marL="91440" marR="91440" marT="45720" marB="45720">
                    <a:solidFill>
                      <a:srgbClr val="E8EDEC"/>
                    </a:solidFill>
                  </a:tcPr>
                </a:tc>
                <a:tc>
                  <a:txBody>
                    <a:bodyPr>
                      <a:noAutofit/>
                    </a:bodyPr>
                    <a:lstStyle/>
                    <a:p>
                      <a:r>
                        <a:rPr sz="2025" b="0">
                          <a:solidFill>
                            <a:srgbClr val="101F30"/>
                          </a:solidFill>
                          <a:latin typeface="Arial"/>
                          <a:ea typeface="Arial"/>
                          <a:cs typeface="Arial"/>
                        </a:rPr>
                        <a:t>1,97 %</a:t>
                      </a:r>
                    </a:p>
                  </a:txBody>
                  <a:tcPr marL="91440" marR="91440" marT="45720" marB="45720">
                    <a:solidFill>
                      <a:srgbClr val="E8EDEC"/>
                    </a:solidFill>
                  </a:tcPr>
                </a:tc>
              </a:tr>
              <a:tr h="527050">
                <a:tc>
                  <a:txBody>
                    <a:bodyPr>
                      <a:noAutofit/>
                    </a:bodyPr>
                    <a:lstStyle/>
                    <a:p>
                      <a:r>
                        <a:rPr sz="2025" b="0">
                          <a:solidFill>
                            <a:srgbClr val="101F30"/>
                          </a:solidFill>
                          <a:latin typeface="Arial"/>
                          <a:ea typeface="Arial"/>
                          <a:cs typeface="Arial"/>
                        </a:rPr>
                        <a:t>se</a:t>
                      </a:r>
                    </a:p>
                  </a:txBody>
                  <a:tcPr marL="91440" marR="91440" marT="45720" marB="45720">
                    <a:solidFill>
                      <a:srgbClr val="F5F3EE"/>
                    </a:solidFill>
                  </a:tcPr>
                </a:tc>
                <a:tc>
                  <a:txBody>
                    <a:bodyPr>
                      <a:noAutofit/>
                    </a:bodyPr>
                    <a:lstStyle/>
                    <a:p>
                      <a:r>
                        <a:rPr sz="2025" b="0">
                          <a:solidFill>
                            <a:srgbClr val="101F30"/>
                          </a:solidFill>
                          <a:latin typeface="Arial"/>
                          <a:ea typeface="Arial"/>
                          <a:cs typeface="Arial"/>
                        </a:rPr>
                        <a:t>1,97 %</a:t>
                      </a:r>
                    </a:p>
                  </a:txBody>
                  <a:tcPr marL="91440" marR="91440" marT="45720" marB="45720">
                    <a:solidFill>
                      <a:srgbClr val="F5F3EE"/>
                    </a:solidFill>
                  </a:tcPr>
                </a:tc>
              </a:tr>
            </a:tbl>
          </a:graphicData>
        </a:graphic>
      </p:graphicFrame>
      <p:sp>
        <p:nvSpPr>
          <p:cNvPr id="5" name="1. Ejecutar la demo">
            <a:extLst xmlns:a="http://schemas.openxmlformats.org/drawingml/2006/main">
              <a:ext uri="{FF2B5EF4-FFF2-40B4-BE49-F238E27FC236}">
                <a16:creationId xmlns:a16="http://schemas.microsoft.com/office/drawing/2014/main" id="{FBF13999-8725-4541-BFAD-28D62DDB4D63}"/>
              </a:ext>
            </a:extLst>
          </p:cNvPr>
          <p:cNvSpPr>
            <a:spLocks xmlns:a="http://schemas.openxmlformats.org/drawingml/2006/main" noGrp="1"/>
          </p:cNvSpPr>
          <p:nvPr/>
        </p:nvSpPr>
        <p:spPr>
          <a:xfrm xmlns:a="http://schemas.openxmlformats.org/drawingml/2006/main">
            <a:off x="7048500" y="25527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F30"/>
                </a:solidFill>
                <a:latin typeface="Arial"/>
                <a:ea typeface="Arial"/>
                <a:cs typeface="Arial"/>
              </a:defRPr>
            </a:pPr>
            <a:r>
              <a:rPr sz="2250" b="1">
                <a:solidFill>
                  <a:srgbClr val="101F30"/>
                </a:solidFill>
                <a:latin typeface="Arial"/>
                <a:ea typeface="Arial"/>
                <a:cs typeface="Arial"/>
              </a:rPr>
              <a:t>1. Ejecutar la demo</a:t>
            </a:r>
          </a:p>
        </p:txBody>
      </p:sp>
      <p:sp>
        <p:nvSpPr>
          <p:cNvPr id="6" name="2. Probar otro contexto">
            <a:extLst xmlns:a="http://schemas.openxmlformats.org/drawingml/2006/main">
              <a:ext uri="{FF2B5EF4-FFF2-40B4-BE49-F238E27FC236}">
                <a16:creationId xmlns:a16="http://schemas.microsoft.com/office/drawing/2014/main" id="{146F429D-ADB7-4E8F-8709-A4CAB762BA9C}"/>
              </a:ext>
            </a:extLst>
          </p:cNvPr>
          <p:cNvSpPr>
            <a:spLocks xmlns:a="http://schemas.openxmlformats.org/drawingml/2006/main" noGrp="1"/>
          </p:cNvSpPr>
          <p:nvPr/>
        </p:nvSpPr>
        <p:spPr>
          <a:xfrm xmlns:a="http://schemas.openxmlformats.org/drawingml/2006/main">
            <a:off x="7048500" y="3257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F30"/>
                </a:solidFill>
                <a:latin typeface="Arial"/>
                <a:ea typeface="Arial"/>
                <a:cs typeface="Arial"/>
              </a:defRPr>
            </a:pPr>
            <a:r>
              <a:rPr sz="2250" b="1">
                <a:solidFill>
                  <a:srgbClr val="101F30"/>
                </a:solidFill>
                <a:latin typeface="Arial"/>
                <a:ea typeface="Arial"/>
                <a:cs typeface="Arial"/>
              </a:rPr>
              <a:t>2. Probar otro contexto</a:t>
            </a:r>
          </a:p>
        </p:txBody>
      </p:sp>
      <p:sp>
        <p:nvSpPr>
          <p:cNvPr id="7" name="3. Revisar desconocidas">
            <a:extLst xmlns:a="http://schemas.openxmlformats.org/drawingml/2006/main">
              <a:ext uri="{FF2B5EF4-FFF2-40B4-BE49-F238E27FC236}">
                <a16:creationId xmlns:a16="http://schemas.microsoft.com/office/drawing/2014/main" id="{B5A159F1-140D-4093-9291-A08083A329DD}"/>
              </a:ext>
            </a:extLst>
          </p:cNvPr>
          <p:cNvSpPr>
            <a:spLocks xmlns:a="http://schemas.openxmlformats.org/drawingml/2006/main" noGrp="1"/>
          </p:cNvSpPr>
          <p:nvPr/>
        </p:nvSpPr>
        <p:spPr>
          <a:xfrm xmlns:a="http://schemas.openxmlformats.org/drawingml/2006/main">
            <a:off x="7048500" y="396240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1F30"/>
                </a:solidFill>
                <a:latin typeface="Arial"/>
                <a:ea typeface="Arial"/>
                <a:cs typeface="Arial"/>
              </a:defRPr>
            </a:pPr>
            <a:r>
              <a:rPr sz="2250" b="1">
                <a:solidFill>
                  <a:srgbClr val="101F30"/>
                </a:solidFill>
                <a:latin typeface="Arial"/>
                <a:ea typeface="Arial"/>
                <a:cs typeface="Arial"/>
              </a:rPr>
              <a:t>3. Revisar desconocidas</a:t>
            </a:r>
          </a:p>
        </p:txBody>
      </p:sp>
      <p:sp>
        <p:nvSpPr>
          <p:cNvPr id="8" name="Riobamba ESPOCH Chimborazo">
            <a:extLst xmlns:a="http://schemas.openxmlformats.org/drawingml/2006/main">
              <a:ext uri="{FF2B5EF4-FFF2-40B4-BE49-F238E27FC236}">
                <a16:creationId xmlns:a16="http://schemas.microsoft.com/office/drawing/2014/main" id="{146A1CA9-27AC-4A0F-8C30-9BCD593AAA40}"/>
              </a:ext>
            </a:extLst>
          </p:cNvPr>
          <p:cNvSpPr>
            <a:spLocks xmlns:a="http://schemas.openxmlformats.org/drawingml/2006/main" noGrp="1"/>
          </p:cNvSpPr>
          <p:nvPr/>
        </p:nvSpPr>
        <p:spPr>
          <a:xfrm xmlns:a="http://schemas.openxmlformats.org/drawingml/2006/main">
            <a:off x="7048500" y="4600575"/>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7923"/>
                </a:solidFill>
                <a:latin typeface="Arial"/>
                <a:ea typeface="Arial"/>
                <a:cs typeface="Arial"/>
              </a:defRPr>
            </a:pPr>
            <a:r>
              <a:rPr sz="2025" b="0">
                <a:solidFill>
                  <a:srgbClr val="B97923"/>
                </a:solidFill>
                <a:latin typeface="Arial"/>
                <a:ea typeface="Arial"/>
                <a:cs typeface="Arial"/>
              </a:rPr>
              <a:t>Riobamba ESPOCH Chimborazo</a:t>
            </a:r>
          </a:p>
        </p:txBody>
      </p:sp>
      <p:sp>
        <p:nvSpPr>
          <p:cNvPr id="9" name="Modelo LSTM seleccionado por validación. Tabla: salida ">
            <a:extLst xmlns:a="http://schemas.openxmlformats.org/drawingml/2006/main">
              <a:ext uri="{FF2B5EF4-FFF2-40B4-BE49-F238E27FC236}">
                <a16:creationId xmlns:a16="http://schemas.microsoft.com/office/drawing/2014/main" id="{6DF0062B-FB12-4E4C-8EA8-BCEDD73064F5}"/>
              </a:ext>
            </a:extLst>
          </p:cNvPr>
          <p:cNvSpPr>
            <a:spLocks xmlns:a="http://schemas.openxmlformats.org/drawingml/2006/main" noGrp="1"/>
          </p:cNvSpPr>
          <p:nvPr/>
        </p:nvSpPr>
        <p:spPr>
          <a:xfrm xmlns:a="http://schemas.openxmlformats.org/drawingml/2006/main">
            <a:off x="609600" y="596265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16B"/>
                </a:solidFill>
                <a:latin typeface="Arial"/>
                <a:ea typeface="Arial"/>
                <a:cs typeface="Arial"/>
              </a:defRPr>
            </a:pPr>
            <a:r>
              <a:rPr sz="1575" b="0">
                <a:solidFill>
                  <a:srgbClr val="52616B"/>
                </a:solidFill>
                <a:latin typeface="Arial"/>
                <a:ea typeface="Arial"/>
                <a:cs typeface="Arial"/>
              </a:rPr>
              <a:t>Modelo LSTM seleccionado por validación. Tabla: salida guardada para consulta.</a:t>
            </a:r>
          </a:p>
        </p:txBody>
      </p:sp>
    </p:spTree>
    <p:extLst>
      <p:ext uri="{BB962C8B-B14F-4D97-AF65-F5344CB8AC3E}">
        <p14:creationId xmlns:p14="http://schemas.microsoft.com/office/powerpoint/2010/main" val="2132048260"/>
      </p:ext>
    </p:extLst>
  </p:cSld>
</p:sld>
</file>

<file path=ppt/slides/slide12.xml><?xml version="1.0" encoding="utf-8"?>
<p:sld xmlns:p="http://schemas.openxmlformats.org/presentationml/2006/main">
  <p:cSld>
    <p:bg>
      <p:bgPr>
        <a:solidFill xmlns:a="http://schemas.openxmlformats.org/drawingml/2006/main">
          <a:srgbClr val="101F30"/>
        </a:solidFill>
      </p:bgPr>
    </p:bg>
    <p:spTree>
      <p:nvGrpSpPr>
        <p:cNvPr id="1" name=""/>
        <p:cNvGrpSpPr/>
        <p:nvPr/>
      </p:nvGrpSpPr>
      <p:grpSpPr>
        <a:xfrm xmlns:a="http://schemas.openxmlformats.org/drawingml/2006/main"/>
      </p:grpSpPr>
      <p:sp>
        <p:nvSpPr>
          <p:cNvPr id="6" name="Conclusiones del estudio">
            <a:extLst xmlns:a="http://schemas.openxmlformats.org/drawingml/2006/main">
              <a:ext uri="{FF2B5EF4-FFF2-40B4-BE49-F238E27FC236}">
                <a16:creationId xmlns:a16="http://schemas.microsoft.com/office/drawing/2014/main" id="{C001B275-599D-419C-BD5F-93A29E37A0E9}"/>
              </a:ext>
            </a:extLst>
          </p:cNvPr>
          <p:cNvSpPr>
            <a:spLocks xmlns:a="http://schemas.openxmlformats.org/drawingml/2006/main" noGrp="1"/>
          </p:cNvSpPr>
          <p:nvPr/>
        </p:nvSpPr>
        <p:spPr>
          <a:xfrm xmlns:a="http://schemas.openxmlformats.org/drawingml/2006/main">
            <a:off x="609600" y="4381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Conclusiones del estudio</a:t>
            </a:r>
          </a:p>
        </p:txBody>
      </p:sp>
      <p:sp>
        <p:nvSpPr>
          <p:cNvPr id="2" name="12 / 12">
            <a:extLst xmlns:a="http://schemas.openxmlformats.org/drawingml/2006/main">
              <a:ext uri="{FF2B5EF4-FFF2-40B4-BE49-F238E27FC236}">
                <a16:creationId xmlns:a16="http://schemas.microsoft.com/office/drawing/2014/main" id="{A588A659-EE59-44F1-BE08-52150685DCA4}"/>
              </a:ext>
            </a:extLst>
          </p:cNvPr>
          <p:cNvSpPr>
            <a:spLocks xmlns:a="http://schemas.openxmlformats.org/drawingml/2006/main" noGrp="1"/>
          </p:cNvSpPr>
          <p:nvPr/>
        </p:nvSpPr>
        <p:spPr>
          <a:xfrm xmlns:a="http://schemas.openxmlformats.org/drawingml/2006/main">
            <a:off x="10572750" y="6381750"/>
            <a:ext cx="1028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EC6CF"/>
                </a:solidFill>
                <a:latin typeface="Arial"/>
                <a:ea typeface="Arial"/>
                <a:cs typeface="Arial"/>
              </a:defRPr>
            </a:pPr>
            <a:r>
              <a:rPr sz="1350" b="0">
                <a:solidFill>
                  <a:srgbClr val="AEC6CF"/>
                </a:solidFill>
                <a:latin typeface="Arial"/>
                <a:ea typeface="Arial"/>
                <a:cs typeface="Arial"/>
              </a:rPr>
              <a:t>12 / 12</a:t>
            </a:r>
          </a:p>
        </p:txBody>
      </p:sp>
      <p:sp>
        <p:nvSpPr>
          <p:cNvPr id="3" name="La RNN obtuvo mejores medias&#10;en las condiciones evaluad">
            <a:extLst xmlns:a="http://schemas.openxmlformats.org/drawingml/2006/main">
              <a:ext uri="{FF2B5EF4-FFF2-40B4-BE49-F238E27FC236}">
                <a16:creationId xmlns:a16="http://schemas.microsoft.com/office/drawing/2014/main" id="{AD3CBBC6-9569-4346-A460-C6301DA0F026}"/>
              </a:ext>
            </a:extLst>
          </p:cNvPr>
          <p:cNvSpPr>
            <a:spLocks xmlns:a="http://schemas.openxmlformats.org/drawingml/2006/main" noGrp="1"/>
          </p:cNvSpPr>
          <p:nvPr/>
        </p:nvSpPr>
        <p:spPr>
          <a:xfrm xmlns:a="http://schemas.openxmlformats.org/drawingml/2006/main">
            <a:off x="609600" y="1781175"/>
            <a:ext cx="10858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5FD0CF"/>
                </a:solidFill>
                <a:latin typeface="Arial"/>
                <a:ea typeface="Arial"/>
                <a:cs typeface="Arial"/>
              </a:defRPr>
            </a:pPr>
            <a:r>
              <a:rPr sz="3375" b="1">
                <a:solidFill>
                  <a:srgbClr val="5FD0CF"/>
                </a:solidFill>
                <a:latin typeface="Arial"/>
                <a:ea typeface="Arial"/>
                <a:cs typeface="Arial"/>
              </a:rPr>
              <a:t>La RNN obtuvo mejores medias</a:t>
            </a:r>
          </a:p>
          <a:p xmlns:a="http://schemas.openxmlformats.org/drawingml/2006/main">
            <a:pPr>
              <a:defRPr sz="3375" b="1">
                <a:solidFill>
                  <a:srgbClr val="5FD0CF"/>
                </a:solidFill>
                <a:latin typeface="Arial"/>
                <a:ea typeface="Arial"/>
                <a:cs typeface="Arial"/>
              </a:defRPr>
            </a:pPr>
            <a:r>
              <a:rPr sz="3375" b="1">
                <a:solidFill>
                  <a:srgbClr val="5FD0CF"/>
                </a:solidFill>
                <a:latin typeface="Arial"/>
                <a:ea typeface="Arial"/>
                <a:cs typeface="Arial"/>
              </a:rPr>
              <a:t>en las condiciones evaluadas</a:t>
            </a:r>
          </a:p>
        </p:txBody>
      </p:sp>
      <p:sp>
        <p:nvSpPr>
          <p:cNvPr id="4" name="La celda LSTM regula la información del contexto.&#10;El vo">
            <a:extLst xmlns:a="http://schemas.openxmlformats.org/drawingml/2006/main">
              <a:ext uri="{FF2B5EF4-FFF2-40B4-BE49-F238E27FC236}">
                <a16:creationId xmlns:a16="http://schemas.microsoft.com/office/drawing/2014/main" id="{F6905038-FC40-4B3B-92FE-5668E86D04F9}"/>
              </a:ext>
            </a:extLst>
          </p:cNvPr>
          <p:cNvSpPr>
            <a:spLocks xmlns:a="http://schemas.openxmlformats.org/drawingml/2006/main" noGrp="1"/>
          </p:cNvSpPr>
          <p:nvPr/>
        </p:nvSpPr>
        <p:spPr>
          <a:xfrm xmlns:a="http://schemas.openxmlformats.org/drawingml/2006/main">
            <a:off x="609600" y="3305175"/>
            <a:ext cx="10858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La celda LSTM regula la información del contexto.</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El vocabulario limita las palabras que puede proponer.</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La mejora observada corresponde a este experimento.</a:t>
            </a:r>
          </a:p>
        </p:txBody>
      </p:sp>
      <p:sp>
        <p:nvSpPr>
          <p:cNvPr id="5" name="12 fuentes abiertas y resultados verificables&#10;Informe c">
            <a:extLst xmlns:a="http://schemas.openxmlformats.org/drawingml/2006/main">
              <a:ext uri="{FF2B5EF4-FFF2-40B4-BE49-F238E27FC236}">
                <a16:creationId xmlns:a16="http://schemas.microsoft.com/office/drawing/2014/main" id="{59780C7C-5AD5-4DBF-ABFA-608767EB78BA}"/>
              </a:ext>
            </a:extLst>
          </p:cNvPr>
          <p:cNvSpPr>
            <a:spLocks xmlns:a="http://schemas.openxmlformats.org/drawingml/2006/main" noGrp="1"/>
          </p:cNvSpPr>
          <p:nvPr/>
        </p:nvSpPr>
        <p:spPr>
          <a:xfrm xmlns:a="http://schemas.openxmlformats.org/drawingml/2006/main">
            <a:off x="609600" y="52387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7D9DC"/>
                </a:solidFill>
                <a:latin typeface="Arial"/>
                <a:ea typeface="Arial"/>
                <a:cs typeface="Arial"/>
              </a:defRPr>
            </a:pPr>
            <a:r>
              <a:rPr sz="1875" b="0">
                <a:solidFill>
                  <a:srgbClr val="B7D9DC"/>
                </a:solidFill>
                <a:latin typeface="Arial"/>
                <a:ea typeface="Arial"/>
                <a:cs typeface="Arial"/>
              </a:rPr>
              <a:t>12 fuentes abiertas y resultados verificables</a:t>
            </a:r>
          </a:p>
          <a:p xmlns:a="http://schemas.openxmlformats.org/drawingml/2006/main">
            <a:pPr>
              <a:defRPr sz="1875" b="0">
                <a:solidFill>
                  <a:srgbClr val="B7D9DC"/>
                </a:solidFill>
                <a:latin typeface="Arial"/>
                <a:ea typeface="Arial"/>
                <a:cs typeface="Arial"/>
              </a:defRPr>
            </a:pPr>
            <a:r>
              <a:rPr sz="1875" b="0">
                <a:solidFill>
                  <a:srgbClr val="B7D9DC"/>
                </a:solidFill>
                <a:latin typeface="Arial"/>
                <a:ea typeface="Arial"/>
                <a:cs typeface="Arial"/>
              </a:rPr>
              <a:t>Informe completo y guía de aprendizaje en el paquete del grupo</a:t>
            </a:r>
          </a:p>
        </p:txBody>
      </p:sp>
    </p:spTree>
    <p:extLst>
      <p:ext uri="{BB962C8B-B14F-4D97-AF65-F5344CB8AC3E}">
        <p14:creationId xmlns:p14="http://schemas.microsoft.com/office/powerpoint/2010/main" val="1937379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2026-09-30T07:52:19.2870000Z</dcterms:created>
  <dcterms:modified xsi:type="dcterms:W3CDTF">2026-09-30T07:52:19.2870000Z</dcterms:modified>
</coreProperties>
</file>